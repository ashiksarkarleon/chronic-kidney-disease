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40347A-237F-4D58-9AD0-29E097E3B0F2}" type="doc">
      <dgm:prSet loTypeId="urn:microsoft.com/office/officeart/2005/8/layout/h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14A9921-8169-4FD5-B070-773730641ADE}">
      <dgm:prSet phldrT="[Text]" custT="1"/>
      <dgm:spPr/>
      <dgm:t>
        <a:bodyPr/>
        <a:lstStyle/>
        <a:p>
          <a:r>
            <a:rPr lang="en-US" sz="1100" dirty="0">
              <a:latin typeface="Times New Roman" pitchFamily="18" charset="0"/>
              <a:cs typeface="Times New Roman" pitchFamily="18" charset="0"/>
            </a:rPr>
            <a:t>Input Data</a:t>
          </a:r>
        </a:p>
      </dgm:t>
    </dgm:pt>
    <dgm:pt modelId="{0B2A04D7-BDD0-4BE3-8205-347E8E96E798}" type="parTrans" cxnId="{26F34682-2673-41EB-8D63-6CA1DA478F6E}">
      <dgm:prSet/>
      <dgm:spPr/>
      <dgm:t>
        <a:bodyPr/>
        <a:lstStyle/>
        <a:p>
          <a:endParaRPr lang="en-US" sz="1100">
            <a:latin typeface="Times New Roman" pitchFamily="18" charset="0"/>
            <a:cs typeface="Times New Roman" pitchFamily="18" charset="0"/>
          </a:endParaRPr>
        </a:p>
      </dgm:t>
    </dgm:pt>
    <dgm:pt modelId="{B3C0D5D2-C52B-4502-9CED-9BF40574F031}" type="sibTrans" cxnId="{26F34682-2673-41EB-8D63-6CA1DA478F6E}">
      <dgm:prSet/>
      <dgm:spPr/>
      <dgm:t>
        <a:bodyPr/>
        <a:lstStyle/>
        <a:p>
          <a:endParaRPr lang="en-US" sz="1100">
            <a:latin typeface="Times New Roman" pitchFamily="18" charset="0"/>
            <a:cs typeface="Times New Roman" pitchFamily="18" charset="0"/>
          </a:endParaRPr>
        </a:p>
      </dgm:t>
    </dgm:pt>
    <dgm:pt modelId="{D15CE7C7-C83A-465E-908C-2D5A830A156C}">
      <dgm:prSet phldrT="[Text]" custT="1"/>
      <dgm:spPr/>
      <dgm:t>
        <a:bodyPr/>
        <a:lstStyle/>
        <a:p>
          <a:r>
            <a:rPr lang="en-US" sz="1100" dirty="0">
              <a:latin typeface="Times New Roman" pitchFamily="18" charset="0"/>
              <a:cs typeface="Times New Roman" pitchFamily="18" charset="0"/>
            </a:rPr>
            <a:t>Classification Models</a:t>
          </a:r>
        </a:p>
      </dgm:t>
    </dgm:pt>
    <dgm:pt modelId="{CDE0A0F3-D174-458B-9E34-952D7AAD295E}" type="parTrans" cxnId="{CB0E33FD-5416-44F4-A006-8CD194DD0BBC}">
      <dgm:prSet/>
      <dgm:spPr/>
      <dgm:t>
        <a:bodyPr/>
        <a:lstStyle/>
        <a:p>
          <a:endParaRPr lang="en-US" sz="1100">
            <a:latin typeface="Times New Roman" pitchFamily="18" charset="0"/>
            <a:cs typeface="Times New Roman" pitchFamily="18" charset="0"/>
          </a:endParaRPr>
        </a:p>
      </dgm:t>
    </dgm:pt>
    <dgm:pt modelId="{D22183BF-55B2-46B1-9F1C-AB19947CB744}" type="sibTrans" cxnId="{CB0E33FD-5416-44F4-A006-8CD194DD0BBC}">
      <dgm:prSet/>
      <dgm:spPr/>
      <dgm:t>
        <a:bodyPr/>
        <a:lstStyle/>
        <a:p>
          <a:endParaRPr lang="en-US" sz="1100">
            <a:latin typeface="Times New Roman" pitchFamily="18" charset="0"/>
            <a:cs typeface="Times New Roman" pitchFamily="18" charset="0"/>
          </a:endParaRPr>
        </a:p>
      </dgm:t>
    </dgm:pt>
    <dgm:pt modelId="{5B7FD622-3DD5-4A75-B203-E1C4310BF6C4}">
      <dgm:prSet phldrT="[Text]" custT="1"/>
      <dgm:spPr/>
      <dgm:t>
        <a:bodyPr/>
        <a:lstStyle/>
        <a:p>
          <a:r>
            <a:rPr lang="en-US" sz="1100" dirty="0">
              <a:latin typeface="Times New Roman" pitchFamily="18" charset="0"/>
              <a:cs typeface="Times New Roman" pitchFamily="18" charset="0"/>
            </a:rPr>
            <a:t>Support Vector Machines</a:t>
          </a:r>
        </a:p>
      </dgm:t>
    </dgm:pt>
    <dgm:pt modelId="{FD54CF73-378D-43D6-AACA-947CAA825C67}" type="parTrans" cxnId="{6373611E-70D8-4085-8632-3941177ECB45}">
      <dgm:prSet/>
      <dgm:spPr/>
      <dgm:t>
        <a:bodyPr/>
        <a:lstStyle/>
        <a:p>
          <a:endParaRPr lang="en-US" sz="1100">
            <a:latin typeface="Times New Roman" pitchFamily="18" charset="0"/>
            <a:cs typeface="Times New Roman" pitchFamily="18" charset="0"/>
          </a:endParaRPr>
        </a:p>
      </dgm:t>
    </dgm:pt>
    <dgm:pt modelId="{6F9CFDDA-9EBC-42E6-95AB-45EE4DD9B35D}" type="sibTrans" cxnId="{6373611E-70D8-4085-8632-3941177ECB45}">
      <dgm:prSet/>
      <dgm:spPr/>
      <dgm:t>
        <a:bodyPr/>
        <a:lstStyle/>
        <a:p>
          <a:endParaRPr lang="en-US" sz="1100">
            <a:latin typeface="Times New Roman" pitchFamily="18" charset="0"/>
            <a:cs typeface="Times New Roman" pitchFamily="18" charset="0"/>
          </a:endParaRPr>
        </a:p>
      </dgm:t>
    </dgm:pt>
    <dgm:pt modelId="{CF8CD58D-2271-4DA3-9167-30AD726BEAF7}">
      <dgm:prSet phldrT="[Text]" custT="1"/>
      <dgm:spPr/>
      <dgm:t>
        <a:bodyPr/>
        <a:lstStyle/>
        <a:p>
          <a:r>
            <a:rPr lang="en-US" sz="900" dirty="0">
              <a:latin typeface="Times New Roman" pitchFamily="18" charset="0"/>
              <a:cs typeface="Times New Roman" pitchFamily="18" charset="0"/>
            </a:rPr>
            <a:t>CKD Prediction System</a:t>
          </a:r>
        </a:p>
      </dgm:t>
    </dgm:pt>
    <dgm:pt modelId="{0F238291-F940-4842-99D4-CEE7D2A30DA6}" type="parTrans" cxnId="{E47A7130-23ED-4DDF-A0D8-5585A51C1E81}">
      <dgm:prSet/>
      <dgm:spPr/>
      <dgm:t>
        <a:bodyPr/>
        <a:lstStyle/>
        <a:p>
          <a:endParaRPr lang="en-US" sz="1100">
            <a:latin typeface="Times New Roman" pitchFamily="18" charset="0"/>
            <a:cs typeface="Times New Roman" pitchFamily="18" charset="0"/>
          </a:endParaRPr>
        </a:p>
      </dgm:t>
    </dgm:pt>
    <dgm:pt modelId="{9D8CED56-A46B-4E78-BA95-97A80D753530}" type="sibTrans" cxnId="{E47A7130-23ED-4DDF-A0D8-5585A51C1E81}">
      <dgm:prSet/>
      <dgm:spPr/>
      <dgm:t>
        <a:bodyPr/>
        <a:lstStyle/>
        <a:p>
          <a:endParaRPr lang="en-US" sz="1100">
            <a:latin typeface="Times New Roman" pitchFamily="18" charset="0"/>
            <a:cs typeface="Times New Roman" pitchFamily="18" charset="0"/>
          </a:endParaRPr>
        </a:p>
      </dgm:t>
    </dgm:pt>
    <dgm:pt modelId="{44F2B9A3-B2F1-4737-AD76-DE5817B2A09C}">
      <dgm:prSet phldrT="[Text]" custT="1"/>
      <dgm:spPr/>
      <dgm:t>
        <a:bodyPr/>
        <a:lstStyle/>
        <a:p>
          <a:r>
            <a:rPr lang="en-US" sz="1100" dirty="0">
              <a:latin typeface="Times New Roman" pitchFamily="18" charset="0"/>
              <a:cs typeface="Times New Roman" pitchFamily="18" charset="0"/>
            </a:rPr>
            <a:t> K-Nearest Neighbors</a:t>
          </a:r>
        </a:p>
      </dgm:t>
    </dgm:pt>
    <dgm:pt modelId="{540C191C-2B24-49A9-A259-6F8180A33D01}" type="parTrans" cxnId="{95AA4A32-4439-4C2E-8D6D-5C8914F01F94}">
      <dgm:prSet/>
      <dgm:spPr/>
      <dgm:t>
        <a:bodyPr/>
        <a:lstStyle/>
        <a:p>
          <a:endParaRPr lang="en-US" sz="1100">
            <a:latin typeface="Times New Roman" pitchFamily="18" charset="0"/>
            <a:cs typeface="Times New Roman" pitchFamily="18" charset="0"/>
          </a:endParaRPr>
        </a:p>
      </dgm:t>
    </dgm:pt>
    <dgm:pt modelId="{50F7A054-372E-48AE-ACFA-3D890A6429F3}" type="sibTrans" cxnId="{95AA4A32-4439-4C2E-8D6D-5C8914F01F94}">
      <dgm:prSet/>
      <dgm:spPr/>
      <dgm:t>
        <a:bodyPr/>
        <a:lstStyle/>
        <a:p>
          <a:endParaRPr lang="en-US" sz="1100">
            <a:latin typeface="Times New Roman" pitchFamily="18" charset="0"/>
            <a:cs typeface="Times New Roman" pitchFamily="18" charset="0"/>
          </a:endParaRPr>
        </a:p>
      </dgm:t>
    </dgm:pt>
    <dgm:pt modelId="{D9B2EE32-0DE2-4A74-956D-5C614F50161D}">
      <dgm:prSet phldrT="[Text]" custT="1"/>
      <dgm:spPr/>
      <dgm:t>
        <a:bodyPr/>
        <a:lstStyle/>
        <a:p>
          <a:r>
            <a:rPr lang="en-US" sz="1100" dirty="0">
              <a:latin typeface="Times New Roman" pitchFamily="18" charset="0"/>
              <a:cs typeface="Times New Roman" pitchFamily="18" charset="0"/>
            </a:rPr>
            <a:t>Naive </a:t>
          </a:r>
          <a:r>
            <a:rPr lang="en-US" sz="1100" dirty="0" err="1">
              <a:latin typeface="Times New Roman" pitchFamily="18" charset="0"/>
              <a:cs typeface="Times New Roman" pitchFamily="18" charset="0"/>
            </a:rPr>
            <a:t>Bayes</a:t>
          </a:r>
          <a:endParaRPr lang="en-US" sz="1100" dirty="0">
            <a:latin typeface="Times New Roman" pitchFamily="18" charset="0"/>
            <a:cs typeface="Times New Roman" pitchFamily="18" charset="0"/>
          </a:endParaRPr>
        </a:p>
      </dgm:t>
    </dgm:pt>
    <dgm:pt modelId="{8CC0F939-8006-4773-BD28-F5F5B462EFF6}" type="parTrans" cxnId="{C351E5FA-EEC3-4D8B-A5F9-05E28F4458EE}">
      <dgm:prSet/>
      <dgm:spPr/>
      <dgm:t>
        <a:bodyPr/>
        <a:lstStyle/>
        <a:p>
          <a:endParaRPr lang="en-US" sz="1100">
            <a:latin typeface="Times New Roman" pitchFamily="18" charset="0"/>
            <a:cs typeface="Times New Roman" pitchFamily="18" charset="0"/>
          </a:endParaRPr>
        </a:p>
      </dgm:t>
    </dgm:pt>
    <dgm:pt modelId="{685DB822-C157-4150-8724-0004623E3653}" type="sibTrans" cxnId="{C351E5FA-EEC3-4D8B-A5F9-05E28F4458EE}">
      <dgm:prSet/>
      <dgm:spPr/>
      <dgm:t>
        <a:bodyPr/>
        <a:lstStyle/>
        <a:p>
          <a:endParaRPr lang="en-US" sz="1100">
            <a:latin typeface="Times New Roman" pitchFamily="18" charset="0"/>
            <a:cs typeface="Times New Roman" pitchFamily="18" charset="0"/>
          </a:endParaRPr>
        </a:p>
      </dgm:t>
    </dgm:pt>
    <dgm:pt modelId="{1CABACDD-9E3F-471A-AE36-5310B4FACB00}">
      <dgm:prSet phldrT="[Text]" custT="1"/>
      <dgm:spPr/>
      <dgm:t>
        <a:bodyPr/>
        <a:lstStyle/>
        <a:p>
          <a:r>
            <a:rPr lang="en-US" sz="1100" dirty="0">
              <a:latin typeface="Times New Roman" pitchFamily="18" charset="0"/>
              <a:cs typeface="Times New Roman" pitchFamily="18" charset="0"/>
            </a:rPr>
            <a:t>Decision </a:t>
          </a:r>
          <a:r>
            <a:rPr lang="en-US" sz="1100" dirty="0" smtClean="0">
              <a:latin typeface="Times New Roman" pitchFamily="18" charset="0"/>
              <a:cs typeface="Times New Roman" pitchFamily="18" charset="0"/>
            </a:rPr>
            <a:t>Tree</a:t>
          </a:r>
          <a:endParaRPr lang="en-US" sz="1100" dirty="0">
            <a:latin typeface="Times New Roman" pitchFamily="18" charset="0"/>
            <a:cs typeface="Times New Roman" pitchFamily="18" charset="0"/>
          </a:endParaRPr>
        </a:p>
      </dgm:t>
    </dgm:pt>
    <dgm:pt modelId="{4158E05C-6E4D-490A-8E7C-A58BD8F28540}" type="parTrans" cxnId="{24899BF3-6A73-4BD3-9C78-324CC90174BB}">
      <dgm:prSet/>
      <dgm:spPr/>
      <dgm:t>
        <a:bodyPr/>
        <a:lstStyle/>
        <a:p>
          <a:endParaRPr lang="en-US" sz="1100">
            <a:latin typeface="Times New Roman" pitchFamily="18" charset="0"/>
            <a:cs typeface="Times New Roman" pitchFamily="18" charset="0"/>
          </a:endParaRPr>
        </a:p>
      </dgm:t>
    </dgm:pt>
    <dgm:pt modelId="{D3D62CE7-69EC-487E-94D4-8937B536DBC9}" type="sibTrans" cxnId="{24899BF3-6A73-4BD3-9C78-324CC90174BB}">
      <dgm:prSet/>
      <dgm:spPr/>
      <dgm:t>
        <a:bodyPr/>
        <a:lstStyle/>
        <a:p>
          <a:endParaRPr lang="en-US" sz="1100">
            <a:latin typeface="Times New Roman" pitchFamily="18" charset="0"/>
            <a:cs typeface="Times New Roman" pitchFamily="18" charset="0"/>
          </a:endParaRPr>
        </a:p>
      </dgm:t>
    </dgm:pt>
    <dgm:pt modelId="{E801FA28-2432-41B4-A108-CFCFFEC52CD0}">
      <dgm:prSet phldrT="[Text]" custT="1"/>
      <dgm:spPr/>
      <dgm:t>
        <a:bodyPr/>
        <a:lstStyle/>
        <a:p>
          <a:r>
            <a:rPr lang="en-US" sz="1100" dirty="0" smtClean="0">
              <a:latin typeface="Times New Roman" pitchFamily="18" charset="0"/>
              <a:cs typeface="Times New Roman" pitchFamily="18" charset="0"/>
            </a:rPr>
            <a:t> Accuracy</a:t>
          </a:r>
          <a:endParaRPr lang="en-US" sz="1100" dirty="0">
            <a:latin typeface="Times New Roman" pitchFamily="18" charset="0"/>
            <a:cs typeface="Times New Roman" pitchFamily="18" charset="0"/>
          </a:endParaRPr>
        </a:p>
      </dgm:t>
    </dgm:pt>
    <dgm:pt modelId="{1C69D590-6F98-4C11-9C4B-3229D825EFC3}" type="parTrans" cxnId="{13664857-910B-4749-93E5-7F1B269FAD9F}">
      <dgm:prSet/>
      <dgm:spPr/>
      <dgm:t>
        <a:bodyPr/>
        <a:lstStyle/>
        <a:p>
          <a:endParaRPr lang="en-US" sz="1100">
            <a:latin typeface="Times New Roman" pitchFamily="18" charset="0"/>
            <a:cs typeface="Times New Roman" pitchFamily="18" charset="0"/>
          </a:endParaRPr>
        </a:p>
      </dgm:t>
    </dgm:pt>
    <dgm:pt modelId="{96E8BE40-E482-4F8C-8652-DA15BA7AF06C}" type="sibTrans" cxnId="{13664857-910B-4749-93E5-7F1B269FAD9F}">
      <dgm:prSet/>
      <dgm:spPr/>
      <dgm:t>
        <a:bodyPr/>
        <a:lstStyle/>
        <a:p>
          <a:endParaRPr lang="en-US" sz="1100">
            <a:latin typeface="Times New Roman" pitchFamily="18" charset="0"/>
            <a:cs typeface="Times New Roman" pitchFamily="18" charset="0"/>
          </a:endParaRPr>
        </a:p>
      </dgm:t>
    </dgm:pt>
    <dgm:pt modelId="{5F9FA755-9B18-442E-9454-53F110420447}">
      <dgm:prSet phldrT="[Text]" custT="1"/>
      <dgm:spPr/>
      <dgm:t>
        <a:bodyPr/>
        <a:lstStyle/>
        <a:p>
          <a:r>
            <a:rPr lang="en-US" sz="1100" dirty="0">
              <a:latin typeface="Times New Roman" pitchFamily="18" charset="0"/>
              <a:cs typeface="Times New Roman" pitchFamily="18" charset="0"/>
            </a:rPr>
            <a:t> Age</a:t>
          </a:r>
        </a:p>
      </dgm:t>
    </dgm:pt>
    <dgm:pt modelId="{56ED7B42-FAC0-4F7C-BFA0-5EDDFC21D51F}" type="sibTrans" cxnId="{07A8E365-23D9-402D-8566-545609DD7971}">
      <dgm:prSet/>
      <dgm:spPr/>
      <dgm:t>
        <a:bodyPr/>
        <a:lstStyle/>
        <a:p>
          <a:endParaRPr lang="en-US" sz="1100">
            <a:latin typeface="Times New Roman" pitchFamily="18" charset="0"/>
            <a:cs typeface="Times New Roman" pitchFamily="18" charset="0"/>
          </a:endParaRPr>
        </a:p>
      </dgm:t>
    </dgm:pt>
    <dgm:pt modelId="{044BA117-5025-42D2-8775-6B0F720856F4}" type="parTrans" cxnId="{07A8E365-23D9-402D-8566-545609DD7971}">
      <dgm:prSet/>
      <dgm:spPr/>
      <dgm:t>
        <a:bodyPr/>
        <a:lstStyle/>
        <a:p>
          <a:endParaRPr lang="en-US" sz="1100">
            <a:latin typeface="Times New Roman" pitchFamily="18" charset="0"/>
            <a:cs typeface="Times New Roman" pitchFamily="18" charset="0"/>
          </a:endParaRPr>
        </a:p>
      </dgm:t>
    </dgm:pt>
    <dgm:pt modelId="{CE2BD036-437B-433A-959E-46721367AF6F}">
      <dgm:prSet phldrT="[Text]" custT="1"/>
      <dgm:spPr/>
      <dgm:t>
        <a:bodyPr/>
        <a:lstStyle/>
        <a:p>
          <a:r>
            <a:rPr lang="en-US" sz="1100" dirty="0">
              <a:latin typeface="Times New Roman" pitchFamily="18" charset="0"/>
              <a:cs typeface="Times New Roman" pitchFamily="18" charset="0"/>
            </a:rPr>
            <a:t> Bp</a:t>
          </a:r>
        </a:p>
      </dgm:t>
    </dgm:pt>
    <dgm:pt modelId="{9D12031D-9ADB-4BE5-A778-4B2E258BF442}" type="parTrans" cxnId="{7116CA9A-7D30-42BA-B82D-595F0BA40627}">
      <dgm:prSet/>
      <dgm:spPr/>
      <dgm:t>
        <a:bodyPr/>
        <a:lstStyle/>
        <a:p>
          <a:endParaRPr lang="en-US"/>
        </a:p>
      </dgm:t>
    </dgm:pt>
    <dgm:pt modelId="{DA319CE2-987B-4910-AEB0-0AE3C9D41ACC}" type="sibTrans" cxnId="{7116CA9A-7D30-42BA-B82D-595F0BA40627}">
      <dgm:prSet/>
      <dgm:spPr/>
      <dgm:t>
        <a:bodyPr/>
        <a:lstStyle/>
        <a:p>
          <a:endParaRPr lang="en-US"/>
        </a:p>
      </dgm:t>
    </dgm:pt>
    <dgm:pt modelId="{1A1339F6-0306-4069-84DB-7B7334CEE5AF}">
      <dgm:prSet phldrT="[Text]" custT="1"/>
      <dgm:spPr/>
      <dgm:t>
        <a:bodyPr/>
        <a:lstStyle/>
        <a:p>
          <a:r>
            <a:rPr lang="en-US" sz="1100" dirty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100" dirty="0" err="1">
              <a:latin typeface="Times New Roman" pitchFamily="18" charset="0"/>
              <a:cs typeface="Times New Roman" pitchFamily="18" charset="0"/>
            </a:rPr>
            <a:t>Sg</a:t>
          </a:r>
          <a:endParaRPr lang="en-US" sz="1100" dirty="0">
            <a:latin typeface="Times New Roman" pitchFamily="18" charset="0"/>
            <a:cs typeface="Times New Roman" pitchFamily="18" charset="0"/>
          </a:endParaRPr>
        </a:p>
      </dgm:t>
    </dgm:pt>
    <dgm:pt modelId="{DE837B7C-0032-4053-8AB2-734C31808915}" type="parTrans" cxnId="{5617DF4A-102A-43F6-A6F8-BB03F6FD100F}">
      <dgm:prSet/>
      <dgm:spPr/>
      <dgm:t>
        <a:bodyPr/>
        <a:lstStyle/>
        <a:p>
          <a:endParaRPr lang="en-US"/>
        </a:p>
      </dgm:t>
    </dgm:pt>
    <dgm:pt modelId="{24AD7E52-AFE5-4ABC-B09B-259899ED1187}" type="sibTrans" cxnId="{5617DF4A-102A-43F6-A6F8-BB03F6FD100F}">
      <dgm:prSet/>
      <dgm:spPr/>
      <dgm:t>
        <a:bodyPr/>
        <a:lstStyle/>
        <a:p>
          <a:endParaRPr lang="en-US"/>
        </a:p>
      </dgm:t>
    </dgm:pt>
    <dgm:pt modelId="{64F8CE22-B486-4986-AA2E-40D3289D92EF}">
      <dgm:prSet phldrT="[Text]" custT="1"/>
      <dgm:spPr/>
      <dgm:t>
        <a:bodyPr/>
        <a:lstStyle/>
        <a:p>
          <a:r>
            <a:rPr lang="en-US" sz="1100" dirty="0">
              <a:latin typeface="Times New Roman" pitchFamily="18" charset="0"/>
              <a:cs typeface="Times New Roman" pitchFamily="18" charset="0"/>
            </a:rPr>
            <a:t> Al</a:t>
          </a:r>
        </a:p>
      </dgm:t>
    </dgm:pt>
    <dgm:pt modelId="{5AD3B05C-7D67-45C8-AF78-71CA22E006F6}" type="parTrans" cxnId="{6E5B87EA-C2E0-4A32-BCF4-57B6829FD61D}">
      <dgm:prSet/>
      <dgm:spPr/>
      <dgm:t>
        <a:bodyPr/>
        <a:lstStyle/>
        <a:p>
          <a:endParaRPr lang="en-US"/>
        </a:p>
      </dgm:t>
    </dgm:pt>
    <dgm:pt modelId="{962BC56F-D9A5-4141-8B60-B2A9F70F0CCB}" type="sibTrans" cxnId="{6E5B87EA-C2E0-4A32-BCF4-57B6829FD61D}">
      <dgm:prSet/>
      <dgm:spPr/>
      <dgm:t>
        <a:bodyPr/>
        <a:lstStyle/>
        <a:p>
          <a:endParaRPr lang="en-US"/>
        </a:p>
      </dgm:t>
    </dgm:pt>
    <dgm:pt modelId="{64066BC3-246A-4C0F-904F-159294794B04}">
      <dgm:prSet phldrT="[Text]" custT="1"/>
      <dgm:spPr/>
      <dgm:t>
        <a:bodyPr/>
        <a:lstStyle/>
        <a:p>
          <a:r>
            <a:rPr lang="en-US" sz="1100" dirty="0">
              <a:latin typeface="Times New Roman" pitchFamily="18" charset="0"/>
              <a:cs typeface="Times New Roman" pitchFamily="18" charset="0"/>
            </a:rPr>
            <a:t> Su</a:t>
          </a:r>
        </a:p>
      </dgm:t>
    </dgm:pt>
    <dgm:pt modelId="{C44A3D1C-968D-4EC6-A5DD-363A974894DE}" type="parTrans" cxnId="{FCB96713-9F10-4389-BB92-05F3B939CE5A}">
      <dgm:prSet/>
      <dgm:spPr/>
      <dgm:t>
        <a:bodyPr/>
        <a:lstStyle/>
        <a:p>
          <a:endParaRPr lang="en-US"/>
        </a:p>
      </dgm:t>
    </dgm:pt>
    <dgm:pt modelId="{07296417-175D-4812-B677-5C002B5AD8C6}" type="sibTrans" cxnId="{FCB96713-9F10-4389-BB92-05F3B939CE5A}">
      <dgm:prSet/>
      <dgm:spPr/>
      <dgm:t>
        <a:bodyPr/>
        <a:lstStyle/>
        <a:p>
          <a:endParaRPr lang="en-US"/>
        </a:p>
      </dgm:t>
    </dgm:pt>
    <dgm:pt modelId="{45817BF5-5C6E-4AB9-8FCE-99207C16F717}">
      <dgm:prSet phldrT="[Text]" custT="1"/>
      <dgm:spPr/>
      <dgm:t>
        <a:bodyPr/>
        <a:lstStyle/>
        <a:p>
          <a:r>
            <a:rPr lang="en-US" sz="1100" dirty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100" dirty="0" err="1">
              <a:latin typeface="Times New Roman" pitchFamily="18" charset="0"/>
              <a:cs typeface="Times New Roman" pitchFamily="18" charset="0"/>
            </a:rPr>
            <a:t>Rbc</a:t>
          </a:r>
          <a:endParaRPr lang="en-US" sz="1100" dirty="0">
            <a:latin typeface="Times New Roman" pitchFamily="18" charset="0"/>
            <a:cs typeface="Times New Roman" pitchFamily="18" charset="0"/>
          </a:endParaRPr>
        </a:p>
      </dgm:t>
    </dgm:pt>
    <dgm:pt modelId="{05887FCD-0DF4-4FB5-9076-667AD4139B16}" type="parTrans" cxnId="{10E419E6-F023-4DAC-886E-30ACE499C3C2}">
      <dgm:prSet/>
      <dgm:spPr/>
      <dgm:t>
        <a:bodyPr/>
        <a:lstStyle/>
        <a:p>
          <a:endParaRPr lang="en-US"/>
        </a:p>
      </dgm:t>
    </dgm:pt>
    <dgm:pt modelId="{888557B1-B58B-46EC-B273-8033CA9B9751}" type="sibTrans" cxnId="{10E419E6-F023-4DAC-886E-30ACE499C3C2}">
      <dgm:prSet/>
      <dgm:spPr/>
      <dgm:t>
        <a:bodyPr/>
        <a:lstStyle/>
        <a:p>
          <a:endParaRPr lang="en-US"/>
        </a:p>
      </dgm:t>
    </dgm:pt>
    <dgm:pt modelId="{392C68C0-3DFA-4ACD-9760-51F1BAAEB126}">
      <dgm:prSet phldrT="[Text]" custT="1"/>
      <dgm:spPr/>
      <dgm:t>
        <a:bodyPr/>
        <a:lstStyle/>
        <a:p>
          <a:r>
            <a:rPr lang="en-US" sz="1100" dirty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100" dirty="0" err="1">
              <a:latin typeface="Times New Roman" pitchFamily="18" charset="0"/>
              <a:cs typeface="Times New Roman" pitchFamily="18" charset="0"/>
            </a:rPr>
            <a:t>Bgr</a:t>
          </a:r>
          <a:endParaRPr lang="en-US" sz="1100" dirty="0">
            <a:latin typeface="Times New Roman" pitchFamily="18" charset="0"/>
            <a:cs typeface="Times New Roman" pitchFamily="18" charset="0"/>
          </a:endParaRPr>
        </a:p>
      </dgm:t>
    </dgm:pt>
    <dgm:pt modelId="{58CCDEBF-9315-4BAF-9349-4F3349475246}" type="parTrans" cxnId="{3B917FB6-5DB2-40E3-89E8-EE175007681E}">
      <dgm:prSet/>
      <dgm:spPr/>
      <dgm:t>
        <a:bodyPr/>
        <a:lstStyle/>
        <a:p>
          <a:endParaRPr lang="en-US"/>
        </a:p>
      </dgm:t>
    </dgm:pt>
    <dgm:pt modelId="{8495E892-EB74-4C4C-AA84-00DBB1DA2739}" type="sibTrans" cxnId="{3B917FB6-5DB2-40E3-89E8-EE175007681E}">
      <dgm:prSet/>
      <dgm:spPr/>
      <dgm:t>
        <a:bodyPr/>
        <a:lstStyle/>
        <a:p>
          <a:endParaRPr lang="en-US"/>
        </a:p>
      </dgm:t>
    </dgm:pt>
    <dgm:pt modelId="{D917E1CE-1922-42E2-B47B-25899E777D05}">
      <dgm:prSet phldrT="[Text]" custT="1"/>
      <dgm:spPr/>
      <dgm:t>
        <a:bodyPr/>
        <a:lstStyle/>
        <a:p>
          <a:r>
            <a:rPr lang="en-US" sz="1100" dirty="0">
              <a:latin typeface="Times New Roman" pitchFamily="18" charset="0"/>
              <a:cs typeface="Times New Roman" pitchFamily="18" charset="0"/>
            </a:rPr>
            <a:t> Bu</a:t>
          </a:r>
        </a:p>
      </dgm:t>
    </dgm:pt>
    <dgm:pt modelId="{6BE8E5F6-EA3F-4AE5-86EC-ADA39ED1C617}" type="parTrans" cxnId="{9D42F637-4771-4A71-A13A-D99AE1FD5ACD}">
      <dgm:prSet/>
      <dgm:spPr/>
      <dgm:t>
        <a:bodyPr/>
        <a:lstStyle/>
        <a:p>
          <a:endParaRPr lang="en-US"/>
        </a:p>
      </dgm:t>
    </dgm:pt>
    <dgm:pt modelId="{87B84BED-F0D6-4EBD-AC1F-8A1DDBF087F8}" type="sibTrans" cxnId="{9D42F637-4771-4A71-A13A-D99AE1FD5ACD}">
      <dgm:prSet/>
      <dgm:spPr/>
      <dgm:t>
        <a:bodyPr/>
        <a:lstStyle/>
        <a:p>
          <a:endParaRPr lang="en-US"/>
        </a:p>
      </dgm:t>
    </dgm:pt>
    <dgm:pt modelId="{D894C734-0B90-41C4-A4AB-08B1C49F6745}">
      <dgm:prSet phldrT="[Text]" custT="1"/>
      <dgm:spPr/>
      <dgm:t>
        <a:bodyPr/>
        <a:lstStyle/>
        <a:p>
          <a:r>
            <a:rPr lang="en-US" sz="1100" dirty="0">
              <a:latin typeface="Times New Roman" pitchFamily="18" charset="0"/>
              <a:cs typeface="Times New Roman" pitchFamily="18" charset="0"/>
            </a:rPr>
            <a:t> Sc</a:t>
          </a:r>
        </a:p>
      </dgm:t>
    </dgm:pt>
    <dgm:pt modelId="{E43EFACA-0D5E-4F22-B89B-B2A50BF3D8FF}" type="parTrans" cxnId="{5596D39F-4807-4A9A-9765-D1AB93BE3022}">
      <dgm:prSet/>
      <dgm:spPr/>
      <dgm:t>
        <a:bodyPr/>
        <a:lstStyle/>
        <a:p>
          <a:endParaRPr lang="en-US"/>
        </a:p>
      </dgm:t>
    </dgm:pt>
    <dgm:pt modelId="{E3B242A7-E713-4992-B8EF-41AD8A44BF6B}" type="sibTrans" cxnId="{5596D39F-4807-4A9A-9765-D1AB93BE3022}">
      <dgm:prSet/>
      <dgm:spPr/>
      <dgm:t>
        <a:bodyPr/>
        <a:lstStyle/>
        <a:p>
          <a:endParaRPr lang="en-US"/>
        </a:p>
      </dgm:t>
    </dgm:pt>
    <dgm:pt modelId="{A4A1956B-E41B-4ACA-899C-9AA467AB1A7A}">
      <dgm:prSet phldrT="[Text]" custT="1"/>
      <dgm:spPr/>
      <dgm:t>
        <a:bodyPr/>
        <a:lstStyle/>
        <a:p>
          <a:endParaRPr lang="en-US" sz="1100" dirty="0">
            <a:latin typeface="Times New Roman" pitchFamily="18" charset="0"/>
            <a:cs typeface="Times New Roman" pitchFamily="18" charset="0"/>
          </a:endParaRPr>
        </a:p>
      </dgm:t>
    </dgm:pt>
    <dgm:pt modelId="{724CEDA9-0D05-4CFF-8C49-C83B3DA1979B}" type="parTrans" cxnId="{1C76DD5D-2D9A-454C-839F-7C6D40C15B5A}">
      <dgm:prSet/>
      <dgm:spPr/>
      <dgm:t>
        <a:bodyPr/>
        <a:lstStyle/>
        <a:p>
          <a:endParaRPr lang="en-US"/>
        </a:p>
      </dgm:t>
    </dgm:pt>
    <dgm:pt modelId="{A76FCB99-8CC0-40D8-B071-85F2714A5A8A}" type="sibTrans" cxnId="{1C76DD5D-2D9A-454C-839F-7C6D40C15B5A}">
      <dgm:prSet/>
      <dgm:spPr/>
      <dgm:t>
        <a:bodyPr/>
        <a:lstStyle/>
        <a:p>
          <a:endParaRPr lang="en-US"/>
        </a:p>
      </dgm:t>
    </dgm:pt>
    <dgm:pt modelId="{D393A3A1-50E3-4D1B-B666-B036201C9B94}">
      <dgm:prSet phldrT="[Text]" custT="1"/>
      <dgm:spPr/>
      <dgm:t>
        <a:bodyPr/>
        <a:lstStyle/>
        <a:p>
          <a:endParaRPr lang="en-US" sz="1100" dirty="0">
            <a:latin typeface="Times New Roman" pitchFamily="18" charset="0"/>
            <a:cs typeface="Times New Roman" pitchFamily="18" charset="0"/>
          </a:endParaRPr>
        </a:p>
      </dgm:t>
    </dgm:pt>
    <dgm:pt modelId="{B7240EFD-272D-42AE-89AA-551E0D4CC5B2}" type="parTrans" cxnId="{8808C3B9-CFA2-4B3C-8743-A588A79F6EC6}">
      <dgm:prSet/>
      <dgm:spPr/>
      <dgm:t>
        <a:bodyPr/>
        <a:lstStyle/>
        <a:p>
          <a:endParaRPr lang="en-US"/>
        </a:p>
      </dgm:t>
    </dgm:pt>
    <dgm:pt modelId="{E8B2752D-CE65-4ECB-8F88-E13FCC715B5F}" type="sibTrans" cxnId="{8808C3B9-CFA2-4B3C-8743-A588A79F6EC6}">
      <dgm:prSet/>
      <dgm:spPr/>
      <dgm:t>
        <a:bodyPr/>
        <a:lstStyle/>
        <a:p>
          <a:endParaRPr lang="en-US"/>
        </a:p>
      </dgm:t>
    </dgm:pt>
    <dgm:pt modelId="{53AC9BBB-0E53-4DFB-B0BE-27C7A8F9A5C8}">
      <dgm:prSet phldrT="[Text]" custT="1"/>
      <dgm:spPr/>
      <dgm:t>
        <a:bodyPr/>
        <a:lstStyle/>
        <a:p>
          <a:r>
            <a:rPr lang="en-US" sz="1100" dirty="0" smtClean="0">
              <a:latin typeface="Times New Roman" pitchFamily="18" charset="0"/>
              <a:cs typeface="Times New Roman" pitchFamily="18" charset="0"/>
            </a:rPr>
            <a:t> Pc</a:t>
          </a:r>
          <a:endParaRPr lang="en-US" sz="1100" dirty="0">
            <a:latin typeface="Times New Roman" pitchFamily="18" charset="0"/>
            <a:cs typeface="Times New Roman" pitchFamily="18" charset="0"/>
          </a:endParaRPr>
        </a:p>
      </dgm:t>
    </dgm:pt>
    <dgm:pt modelId="{4BDB255B-EDFA-40A7-8FAE-DFDEE31A36AC}" type="parTrans" cxnId="{6F62043B-CB18-454D-AD88-CA61E567C77B}">
      <dgm:prSet/>
      <dgm:spPr/>
      <dgm:t>
        <a:bodyPr/>
        <a:lstStyle/>
        <a:p>
          <a:endParaRPr lang="en-US"/>
        </a:p>
      </dgm:t>
    </dgm:pt>
    <dgm:pt modelId="{4DFC9688-45D0-471D-95F0-6FCB8514D72F}" type="sibTrans" cxnId="{6F62043B-CB18-454D-AD88-CA61E567C77B}">
      <dgm:prSet/>
      <dgm:spPr/>
      <dgm:t>
        <a:bodyPr/>
        <a:lstStyle/>
        <a:p>
          <a:endParaRPr lang="en-US"/>
        </a:p>
      </dgm:t>
    </dgm:pt>
    <dgm:pt modelId="{7616540D-035D-4AA9-8EEE-F098E9DC9D38}">
      <dgm:prSet phldrT="[Text]" custT="1"/>
      <dgm:spPr/>
      <dgm:t>
        <a:bodyPr/>
        <a:lstStyle/>
        <a:p>
          <a:r>
            <a:rPr lang="en-US" sz="11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100" dirty="0" err="1" smtClean="0">
              <a:latin typeface="Times New Roman" pitchFamily="18" charset="0"/>
              <a:cs typeface="Times New Roman" pitchFamily="18" charset="0"/>
            </a:rPr>
            <a:t>Pcc</a:t>
          </a:r>
          <a:endParaRPr lang="en-US" sz="1100" dirty="0">
            <a:latin typeface="Times New Roman" pitchFamily="18" charset="0"/>
            <a:cs typeface="Times New Roman" pitchFamily="18" charset="0"/>
          </a:endParaRPr>
        </a:p>
      </dgm:t>
    </dgm:pt>
    <dgm:pt modelId="{CC81083A-6358-4716-9939-4F6C2173481A}" type="parTrans" cxnId="{CC8AA239-C21A-4410-8A8A-F893814E3090}">
      <dgm:prSet/>
      <dgm:spPr/>
      <dgm:t>
        <a:bodyPr/>
        <a:lstStyle/>
        <a:p>
          <a:endParaRPr lang="en-US"/>
        </a:p>
      </dgm:t>
    </dgm:pt>
    <dgm:pt modelId="{A965B435-2C67-4C03-9F87-DE7B3D1B9BDC}" type="sibTrans" cxnId="{CC8AA239-C21A-4410-8A8A-F893814E3090}">
      <dgm:prSet/>
      <dgm:spPr/>
      <dgm:t>
        <a:bodyPr/>
        <a:lstStyle/>
        <a:p>
          <a:endParaRPr lang="en-US"/>
        </a:p>
      </dgm:t>
    </dgm:pt>
    <dgm:pt modelId="{F0A0B1A3-ED33-44CD-8238-EBF5FA17A4D2}">
      <dgm:prSet phldrT="[Text]" custT="1"/>
      <dgm:spPr/>
      <dgm:t>
        <a:bodyPr/>
        <a:lstStyle/>
        <a:p>
          <a:r>
            <a:rPr lang="en-US" sz="11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100" dirty="0" err="1" smtClean="0">
              <a:latin typeface="Times New Roman" pitchFamily="18" charset="0"/>
              <a:cs typeface="Times New Roman" pitchFamily="18" charset="0"/>
            </a:rPr>
            <a:t>Ba</a:t>
          </a:r>
          <a:endParaRPr lang="en-US" sz="1100" dirty="0">
            <a:latin typeface="Times New Roman" pitchFamily="18" charset="0"/>
            <a:cs typeface="Times New Roman" pitchFamily="18" charset="0"/>
          </a:endParaRPr>
        </a:p>
      </dgm:t>
    </dgm:pt>
    <dgm:pt modelId="{E5B55C3B-D5D4-4A73-AF44-CE40DF3F87BC}" type="parTrans" cxnId="{89848988-D5B9-4BE3-8D5D-305F277608B5}">
      <dgm:prSet/>
      <dgm:spPr/>
      <dgm:t>
        <a:bodyPr/>
        <a:lstStyle/>
        <a:p>
          <a:endParaRPr lang="en-US"/>
        </a:p>
      </dgm:t>
    </dgm:pt>
    <dgm:pt modelId="{AB3BBF20-F6D4-4432-A3F0-B3E12555ECBB}" type="sibTrans" cxnId="{89848988-D5B9-4BE3-8D5D-305F277608B5}">
      <dgm:prSet/>
      <dgm:spPr/>
      <dgm:t>
        <a:bodyPr/>
        <a:lstStyle/>
        <a:p>
          <a:endParaRPr lang="en-US"/>
        </a:p>
      </dgm:t>
    </dgm:pt>
    <dgm:pt modelId="{35406C25-F6EA-4A6D-97CF-1A30207221E9}">
      <dgm:prSet phldrT="[Text]" custT="1"/>
      <dgm:spPr/>
      <dgm:t>
        <a:bodyPr/>
        <a:lstStyle/>
        <a:p>
          <a:r>
            <a:rPr lang="en-US" sz="1100" dirty="0" smtClean="0">
              <a:latin typeface="Times New Roman" pitchFamily="18" charset="0"/>
              <a:cs typeface="Times New Roman" pitchFamily="18" charset="0"/>
            </a:rPr>
            <a:t> Logistic Regression</a:t>
          </a:r>
          <a:endParaRPr lang="en-US" sz="1100" dirty="0">
            <a:latin typeface="Times New Roman" pitchFamily="18" charset="0"/>
            <a:cs typeface="Times New Roman" pitchFamily="18" charset="0"/>
          </a:endParaRPr>
        </a:p>
      </dgm:t>
    </dgm:pt>
    <dgm:pt modelId="{56A452FE-3B08-4A41-8F0B-86AC0DEC72AE}" type="parTrans" cxnId="{633E746D-E503-4E3E-B7C4-CDCD59C28046}">
      <dgm:prSet/>
      <dgm:spPr/>
      <dgm:t>
        <a:bodyPr/>
        <a:lstStyle/>
        <a:p>
          <a:endParaRPr lang="en-US"/>
        </a:p>
      </dgm:t>
    </dgm:pt>
    <dgm:pt modelId="{4482B51B-5848-44B8-9C43-783BBA425520}" type="sibTrans" cxnId="{633E746D-E503-4E3E-B7C4-CDCD59C28046}">
      <dgm:prSet/>
      <dgm:spPr/>
      <dgm:t>
        <a:bodyPr/>
        <a:lstStyle/>
        <a:p>
          <a:endParaRPr lang="en-US"/>
        </a:p>
      </dgm:t>
    </dgm:pt>
    <dgm:pt modelId="{9D8E5A8B-1B88-49A5-90C0-62DF82833499}">
      <dgm:prSet phldrT="[Text]" custT="1"/>
      <dgm:spPr/>
      <dgm:t>
        <a:bodyPr/>
        <a:lstStyle/>
        <a:p>
          <a:r>
            <a:rPr lang="en-US" sz="1100" dirty="0" smtClean="0">
              <a:latin typeface="Times New Roman" pitchFamily="18" charset="0"/>
              <a:cs typeface="Times New Roman" pitchFamily="18" charset="0"/>
            </a:rPr>
            <a:t> Random Forest.</a:t>
          </a:r>
          <a:endParaRPr lang="en-US" sz="1100" dirty="0">
            <a:latin typeface="Times New Roman" pitchFamily="18" charset="0"/>
            <a:cs typeface="Times New Roman" pitchFamily="18" charset="0"/>
          </a:endParaRPr>
        </a:p>
      </dgm:t>
    </dgm:pt>
    <dgm:pt modelId="{5D215B6D-7D93-4084-A707-DCDCB720C6B7}" type="parTrans" cxnId="{D219E11E-9214-4734-BFDF-B910C6D1594B}">
      <dgm:prSet/>
      <dgm:spPr/>
      <dgm:t>
        <a:bodyPr/>
        <a:lstStyle/>
        <a:p>
          <a:endParaRPr lang="en-US"/>
        </a:p>
      </dgm:t>
    </dgm:pt>
    <dgm:pt modelId="{BD01A117-FAF3-4A59-AE31-1E640807D1A0}" type="sibTrans" cxnId="{D219E11E-9214-4734-BFDF-B910C6D1594B}">
      <dgm:prSet/>
      <dgm:spPr/>
      <dgm:t>
        <a:bodyPr/>
        <a:lstStyle/>
        <a:p>
          <a:endParaRPr lang="en-US"/>
        </a:p>
      </dgm:t>
    </dgm:pt>
    <dgm:pt modelId="{6CE17A44-C088-45AF-93F6-EBA7719A6989}">
      <dgm:prSet phldrT="[Text]" custT="1"/>
      <dgm:spPr/>
      <dgm:t>
        <a:bodyPr/>
        <a:lstStyle/>
        <a:p>
          <a:r>
            <a:rPr lang="en-US" sz="1100" dirty="0" smtClean="0">
              <a:latin typeface="Times New Roman" pitchFamily="18" charset="0"/>
              <a:cs typeface="Times New Roman" pitchFamily="18" charset="0"/>
            </a:rPr>
            <a:t> Propose Model.</a:t>
          </a:r>
          <a:endParaRPr lang="en-US" sz="1100" dirty="0">
            <a:latin typeface="Times New Roman" pitchFamily="18" charset="0"/>
            <a:cs typeface="Times New Roman" pitchFamily="18" charset="0"/>
          </a:endParaRPr>
        </a:p>
      </dgm:t>
    </dgm:pt>
    <dgm:pt modelId="{A0031F9B-B900-413B-A2C4-5C1B520E82DC}" type="parTrans" cxnId="{041DBF9C-203F-45A4-8146-31D73D57226D}">
      <dgm:prSet/>
      <dgm:spPr/>
      <dgm:t>
        <a:bodyPr/>
        <a:lstStyle/>
        <a:p>
          <a:endParaRPr lang="en-US"/>
        </a:p>
      </dgm:t>
    </dgm:pt>
    <dgm:pt modelId="{C11C8C19-FEF6-4A6E-BD44-CFC1203D5A73}" type="sibTrans" cxnId="{041DBF9C-203F-45A4-8146-31D73D57226D}">
      <dgm:prSet/>
      <dgm:spPr/>
      <dgm:t>
        <a:bodyPr/>
        <a:lstStyle/>
        <a:p>
          <a:endParaRPr lang="en-US"/>
        </a:p>
      </dgm:t>
    </dgm:pt>
    <dgm:pt modelId="{2E34E2E7-E276-497E-B043-7FB8CA09B3E5}">
      <dgm:prSet phldrT="[Text]" custT="1"/>
      <dgm:spPr/>
      <dgm:t>
        <a:bodyPr/>
        <a:lstStyle/>
        <a:p>
          <a:r>
            <a:rPr lang="en-US" sz="11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F1-score</a:t>
          </a:r>
          <a:endParaRPr lang="en-US" sz="11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6F5FADD7-8625-425D-B2CC-BBE024904AC6}" type="sibTrans" cxnId="{7F0B9C27-DFA5-444C-BB8F-A37275F07230}">
      <dgm:prSet/>
      <dgm:spPr/>
      <dgm:t>
        <a:bodyPr/>
        <a:lstStyle/>
        <a:p>
          <a:endParaRPr lang="en-US"/>
        </a:p>
      </dgm:t>
    </dgm:pt>
    <dgm:pt modelId="{B59E4285-C500-4C98-9FED-B869DCEEE2DB}" type="parTrans" cxnId="{7F0B9C27-DFA5-444C-BB8F-A37275F07230}">
      <dgm:prSet/>
      <dgm:spPr/>
      <dgm:t>
        <a:bodyPr/>
        <a:lstStyle/>
        <a:p>
          <a:endParaRPr lang="en-US"/>
        </a:p>
      </dgm:t>
    </dgm:pt>
    <dgm:pt modelId="{7AF7F490-FD86-4824-94E3-E523D40770BA}">
      <dgm:prSet phldrT="[Text]" custT="1"/>
      <dgm:spPr/>
      <dgm:t>
        <a:bodyPr/>
        <a:lstStyle/>
        <a:p>
          <a:r>
            <a:rPr lang="en-US" sz="1100" dirty="0" smtClean="0">
              <a:latin typeface="Times New Roman" pitchFamily="18" charset="0"/>
              <a:cs typeface="Times New Roman" pitchFamily="18" charset="0"/>
            </a:rPr>
            <a:t> Recall</a:t>
          </a:r>
          <a:endParaRPr lang="en-US" sz="1100" dirty="0">
            <a:latin typeface="Times New Roman" pitchFamily="18" charset="0"/>
            <a:cs typeface="Times New Roman" pitchFamily="18" charset="0"/>
          </a:endParaRPr>
        </a:p>
      </dgm:t>
    </dgm:pt>
    <dgm:pt modelId="{A46C0DDD-B625-4288-B353-588E60D8EED9}" type="sibTrans" cxnId="{9DF417E5-126A-4CD8-B1D4-B629CA718EDA}">
      <dgm:prSet/>
      <dgm:spPr/>
      <dgm:t>
        <a:bodyPr/>
        <a:lstStyle/>
        <a:p>
          <a:endParaRPr lang="en-US"/>
        </a:p>
      </dgm:t>
    </dgm:pt>
    <dgm:pt modelId="{DCA7F01F-9291-4C23-B5B2-7116CB8AF5ED}" type="parTrans" cxnId="{9DF417E5-126A-4CD8-B1D4-B629CA718EDA}">
      <dgm:prSet/>
      <dgm:spPr/>
      <dgm:t>
        <a:bodyPr/>
        <a:lstStyle/>
        <a:p>
          <a:endParaRPr lang="en-US"/>
        </a:p>
      </dgm:t>
    </dgm:pt>
    <dgm:pt modelId="{BDF794F8-98FA-411A-AA7B-332FBBAB661C}">
      <dgm:prSet phldrT="[Text]" custT="1"/>
      <dgm:spPr/>
      <dgm:t>
        <a:bodyPr/>
        <a:lstStyle/>
        <a:p>
          <a:r>
            <a:rPr lang="en-US" sz="1100" dirty="0" smtClean="0">
              <a:latin typeface="Times New Roman" pitchFamily="18" charset="0"/>
              <a:cs typeface="Times New Roman" pitchFamily="18" charset="0"/>
            </a:rPr>
            <a:t> Precision</a:t>
          </a:r>
          <a:endParaRPr lang="en-US" sz="1100" dirty="0">
            <a:latin typeface="Times New Roman" pitchFamily="18" charset="0"/>
            <a:cs typeface="Times New Roman" pitchFamily="18" charset="0"/>
          </a:endParaRPr>
        </a:p>
      </dgm:t>
    </dgm:pt>
    <dgm:pt modelId="{F3014353-9351-4A98-AFCE-242C09D848CB}" type="sibTrans" cxnId="{438CFC36-C3D8-45D3-89D5-4F676FF15274}">
      <dgm:prSet/>
      <dgm:spPr/>
      <dgm:t>
        <a:bodyPr/>
        <a:lstStyle/>
        <a:p>
          <a:endParaRPr lang="en-US"/>
        </a:p>
      </dgm:t>
    </dgm:pt>
    <dgm:pt modelId="{2D4BACAF-C1FD-4AF4-9F65-41FB2D10C555}" type="parTrans" cxnId="{438CFC36-C3D8-45D3-89D5-4F676FF15274}">
      <dgm:prSet/>
      <dgm:spPr/>
      <dgm:t>
        <a:bodyPr/>
        <a:lstStyle/>
        <a:p>
          <a:endParaRPr lang="en-US"/>
        </a:p>
      </dgm:t>
    </dgm:pt>
    <dgm:pt modelId="{E233BF9B-1818-410A-BCE2-4A62FCAA196F}">
      <dgm:prSet phldrT="[Text]" custT="1"/>
      <dgm:spPr/>
      <dgm:t>
        <a:bodyPr/>
        <a:lstStyle/>
        <a:p>
          <a:endParaRPr lang="en-US" sz="1100" dirty="0">
            <a:latin typeface="Times New Roman" pitchFamily="18" charset="0"/>
            <a:cs typeface="Times New Roman" pitchFamily="18" charset="0"/>
          </a:endParaRPr>
        </a:p>
      </dgm:t>
    </dgm:pt>
    <dgm:pt modelId="{7957F053-5526-42A9-A645-7089E859288D}" type="parTrans" cxnId="{A3813620-4B94-42D6-8EAC-7E3852449283}">
      <dgm:prSet/>
      <dgm:spPr/>
    </dgm:pt>
    <dgm:pt modelId="{CFB80119-D560-4E68-907C-F7DB81A3EFCC}" type="sibTrans" cxnId="{A3813620-4B94-42D6-8EAC-7E3852449283}">
      <dgm:prSet/>
      <dgm:spPr/>
    </dgm:pt>
    <dgm:pt modelId="{41CB4E7A-E041-4FE3-9525-FE04F672AF7B}" type="pres">
      <dgm:prSet presAssocID="{3640347A-237F-4D58-9AD0-29E097E3B0F2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266ECF6-B6EF-410A-8E5C-6C3E05CF84CF}" type="pres">
      <dgm:prSet presAssocID="{814A9921-8169-4FD5-B070-773730641ADE}" presName="composite" presStyleCnt="0"/>
      <dgm:spPr/>
    </dgm:pt>
    <dgm:pt modelId="{5EC48FFD-D232-42A3-BFA8-54C55801F63F}" type="pres">
      <dgm:prSet presAssocID="{814A9921-8169-4FD5-B070-773730641ADE}" presName="parTx" presStyleLbl="alignNode1" presStyleIdx="0" presStyleCnt="3" custLinFactNeighborX="-817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7E0B1C-88B4-4D8A-A4B1-5959D1498D18}" type="pres">
      <dgm:prSet presAssocID="{814A9921-8169-4FD5-B070-773730641ADE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7CC0F5-53E2-4000-8750-E0A07761CBA5}" type="pres">
      <dgm:prSet presAssocID="{B3C0D5D2-C52B-4502-9CED-9BF40574F031}" presName="space" presStyleCnt="0"/>
      <dgm:spPr/>
    </dgm:pt>
    <dgm:pt modelId="{16008673-1369-460D-8E23-4655BDBBFF83}" type="pres">
      <dgm:prSet presAssocID="{D15CE7C7-C83A-465E-908C-2D5A830A156C}" presName="composite" presStyleCnt="0"/>
      <dgm:spPr/>
    </dgm:pt>
    <dgm:pt modelId="{2FB925CC-5DA1-458F-93EA-CD2400EACFD6}" type="pres">
      <dgm:prSet presAssocID="{D15CE7C7-C83A-465E-908C-2D5A830A156C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20BB60-7CD5-4045-B15E-2876F23500B4}" type="pres">
      <dgm:prSet presAssocID="{D15CE7C7-C83A-465E-908C-2D5A830A156C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4F955E-911E-466C-8D72-AECE13958969}" type="pres">
      <dgm:prSet presAssocID="{D22183BF-55B2-46B1-9F1C-AB19947CB744}" presName="space" presStyleCnt="0"/>
      <dgm:spPr/>
    </dgm:pt>
    <dgm:pt modelId="{003E659F-71B8-4CF1-9793-FFFD105FC651}" type="pres">
      <dgm:prSet presAssocID="{CF8CD58D-2271-4DA3-9167-30AD726BEAF7}" presName="composite" presStyleCnt="0"/>
      <dgm:spPr/>
    </dgm:pt>
    <dgm:pt modelId="{E5F418CF-51BA-49A5-AC28-1E57FFD5C63B}" type="pres">
      <dgm:prSet presAssocID="{CF8CD58D-2271-4DA3-9167-30AD726BEAF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03E76C-865D-443C-9AAB-D7753735ABEA}" type="pres">
      <dgm:prSet presAssocID="{CF8CD58D-2271-4DA3-9167-30AD726BEAF7}" presName="desTx" presStyleLbl="alignAccFollowNode1" presStyleIdx="2" presStyleCnt="3" custLinFactNeighborX="279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4899BF3-6A73-4BD3-9C78-324CC90174BB}" srcId="{D15CE7C7-C83A-465E-908C-2D5A830A156C}" destId="{1CABACDD-9E3F-471A-AE36-5310B4FACB00}" srcOrd="4" destOrd="0" parTransId="{4158E05C-6E4D-490A-8E7C-A58BD8F28540}" sibTransId="{D3D62CE7-69EC-487E-94D4-8937B536DBC9}"/>
    <dgm:cxn modelId="{7116CA9A-7D30-42BA-B82D-595F0BA40627}" srcId="{814A9921-8169-4FD5-B070-773730641ADE}" destId="{CE2BD036-437B-433A-959E-46721367AF6F}" srcOrd="2" destOrd="0" parTransId="{9D12031D-9ADB-4BE5-A778-4B2E258BF442}" sibTransId="{DA319CE2-987B-4910-AEB0-0AE3C9D41ACC}"/>
    <dgm:cxn modelId="{633E746D-E503-4E3E-B7C4-CDCD59C28046}" srcId="{D15CE7C7-C83A-465E-908C-2D5A830A156C}" destId="{35406C25-F6EA-4A6D-97CF-1A30207221E9}" srcOrd="5" destOrd="0" parTransId="{56A452FE-3B08-4A41-8F0B-86AC0DEC72AE}" sibTransId="{4482B51B-5848-44B8-9C43-783BBA425520}"/>
    <dgm:cxn modelId="{B61B22DA-D978-4CE9-8FB9-7E9752BCACA2}" type="presOf" srcId="{44F2B9A3-B2F1-4737-AD76-DE5817B2A09C}" destId="{6120BB60-7CD5-4045-B15E-2876F23500B4}" srcOrd="0" destOrd="2" presId="urn:microsoft.com/office/officeart/2005/8/layout/hList1"/>
    <dgm:cxn modelId="{CC8AA239-C21A-4410-8A8A-F893814E3090}" srcId="{814A9921-8169-4FD5-B070-773730641ADE}" destId="{7616540D-035D-4AA9-8EEE-F098E9DC9D38}" srcOrd="8" destOrd="0" parTransId="{CC81083A-6358-4716-9939-4F6C2173481A}" sibTransId="{A965B435-2C67-4C03-9F87-DE7B3D1B9BDC}"/>
    <dgm:cxn modelId="{5596D39F-4807-4A9A-9765-D1AB93BE3022}" srcId="{814A9921-8169-4FD5-B070-773730641ADE}" destId="{D894C734-0B90-41C4-A4AB-08B1C49F6745}" srcOrd="12" destOrd="0" parTransId="{E43EFACA-0D5E-4F22-B89B-B2A50BF3D8FF}" sibTransId="{E3B242A7-E713-4992-B8EF-41AD8A44BF6B}"/>
    <dgm:cxn modelId="{13664857-910B-4749-93E5-7F1B269FAD9F}" srcId="{CF8CD58D-2271-4DA3-9167-30AD726BEAF7}" destId="{E801FA28-2432-41B4-A108-CFCFFEC52CD0}" srcOrd="1" destOrd="0" parTransId="{1C69D590-6F98-4C11-9C4B-3229D825EFC3}" sibTransId="{96E8BE40-E482-4F8C-8652-DA15BA7AF06C}"/>
    <dgm:cxn modelId="{438CFC36-C3D8-45D3-89D5-4F676FF15274}" srcId="{CF8CD58D-2271-4DA3-9167-30AD726BEAF7}" destId="{BDF794F8-98FA-411A-AA7B-332FBBAB661C}" srcOrd="2" destOrd="0" parTransId="{2D4BACAF-C1FD-4AF4-9F65-41FB2D10C555}" sibTransId="{F3014353-9351-4A98-AFCE-242C09D848CB}"/>
    <dgm:cxn modelId="{26F34682-2673-41EB-8D63-6CA1DA478F6E}" srcId="{3640347A-237F-4D58-9AD0-29E097E3B0F2}" destId="{814A9921-8169-4FD5-B070-773730641ADE}" srcOrd="0" destOrd="0" parTransId="{0B2A04D7-BDD0-4BE3-8205-347E8E96E798}" sibTransId="{B3C0D5D2-C52B-4502-9CED-9BF40574F031}"/>
    <dgm:cxn modelId="{47C0C551-B4E8-4104-8C68-02D5A05B3CC6}" type="presOf" srcId="{D894C734-0B90-41C4-A4AB-08B1C49F6745}" destId="{117E0B1C-88B4-4D8A-A4B1-5959D1498D18}" srcOrd="0" destOrd="12" presId="urn:microsoft.com/office/officeart/2005/8/layout/hList1"/>
    <dgm:cxn modelId="{08CA962A-6ED0-4AD0-80C5-DC8D73F437F5}" type="presOf" srcId="{D393A3A1-50E3-4D1B-B666-B036201C9B94}" destId="{6903E76C-865D-443C-9AAB-D7753735ABEA}" srcOrd="0" destOrd="0" presId="urn:microsoft.com/office/officeart/2005/8/layout/hList1"/>
    <dgm:cxn modelId="{62C01337-7280-4D06-8584-D9BEAEEE1C6F}" type="presOf" srcId="{D15CE7C7-C83A-465E-908C-2D5A830A156C}" destId="{2FB925CC-5DA1-458F-93EA-CD2400EACFD6}" srcOrd="0" destOrd="0" presId="urn:microsoft.com/office/officeart/2005/8/layout/hList1"/>
    <dgm:cxn modelId="{07A8E365-23D9-402D-8566-545609DD7971}" srcId="{814A9921-8169-4FD5-B070-773730641ADE}" destId="{5F9FA755-9B18-442E-9454-53F110420447}" srcOrd="1" destOrd="0" parTransId="{044BA117-5025-42D2-8775-6B0F720856F4}" sibTransId="{56ED7B42-FAC0-4F7C-BFA0-5EDDFC21D51F}"/>
    <dgm:cxn modelId="{C0740DAB-945B-4F71-AF8F-3C96728C1E5E}" type="presOf" srcId="{5B7FD622-3DD5-4A75-B203-E1C4310BF6C4}" destId="{6120BB60-7CD5-4045-B15E-2876F23500B4}" srcOrd="0" destOrd="1" presId="urn:microsoft.com/office/officeart/2005/8/layout/hList1"/>
    <dgm:cxn modelId="{905CDDBA-A0BB-4203-9D97-4C02D73D6C93}" type="presOf" srcId="{64F8CE22-B486-4986-AA2E-40D3289D92EF}" destId="{117E0B1C-88B4-4D8A-A4B1-5959D1498D18}" srcOrd="0" destOrd="4" presId="urn:microsoft.com/office/officeart/2005/8/layout/hList1"/>
    <dgm:cxn modelId="{3A430251-54C7-4DA1-875B-2EEB5CC7406C}" type="presOf" srcId="{45817BF5-5C6E-4AB9-8FCE-99207C16F717}" destId="{117E0B1C-88B4-4D8A-A4B1-5959D1498D18}" srcOrd="0" destOrd="6" presId="urn:microsoft.com/office/officeart/2005/8/layout/hList1"/>
    <dgm:cxn modelId="{02686338-38CF-4531-9031-BA0C93969FF9}" type="presOf" srcId="{E233BF9B-1818-410A-BCE2-4A62FCAA196F}" destId="{117E0B1C-88B4-4D8A-A4B1-5959D1498D18}" srcOrd="0" destOrd="0" presId="urn:microsoft.com/office/officeart/2005/8/layout/hList1"/>
    <dgm:cxn modelId="{5617DF4A-102A-43F6-A6F8-BB03F6FD100F}" srcId="{814A9921-8169-4FD5-B070-773730641ADE}" destId="{1A1339F6-0306-4069-84DB-7B7334CEE5AF}" srcOrd="3" destOrd="0" parTransId="{DE837B7C-0032-4053-8AB2-734C31808915}" sibTransId="{24AD7E52-AFE5-4ABC-B09B-259899ED1187}"/>
    <dgm:cxn modelId="{67740837-EF15-4EA3-B711-71DFE27C809B}" type="presOf" srcId="{BDF794F8-98FA-411A-AA7B-332FBBAB661C}" destId="{6903E76C-865D-443C-9AAB-D7753735ABEA}" srcOrd="0" destOrd="2" presId="urn:microsoft.com/office/officeart/2005/8/layout/hList1"/>
    <dgm:cxn modelId="{826D8886-CC1E-42A7-8E5D-2D40632FF6ED}" type="presOf" srcId="{A4A1956B-E41B-4ACA-899C-9AA467AB1A7A}" destId="{6120BB60-7CD5-4045-B15E-2876F23500B4}" srcOrd="0" destOrd="0" presId="urn:microsoft.com/office/officeart/2005/8/layout/hList1"/>
    <dgm:cxn modelId="{CB0E33FD-5416-44F4-A006-8CD194DD0BBC}" srcId="{3640347A-237F-4D58-9AD0-29E097E3B0F2}" destId="{D15CE7C7-C83A-465E-908C-2D5A830A156C}" srcOrd="1" destOrd="0" parTransId="{CDE0A0F3-D174-458B-9E34-952D7AAD295E}" sibTransId="{D22183BF-55B2-46B1-9F1C-AB19947CB744}"/>
    <dgm:cxn modelId="{FD5ED92F-B8BB-4EBE-B1BE-DC4EA3D8C8C6}" type="presOf" srcId="{F0A0B1A3-ED33-44CD-8238-EBF5FA17A4D2}" destId="{117E0B1C-88B4-4D8A-A4B1-5959D1498D18}" srcOrd="0" destOrd="9" presId="urn:microsoft.com/office/officeart/2005/8/layout/hList1"/>
    <dgm:cxn modelId="{D219E11E-9214-4734-BFDF-B910C6D1594B}" srcId="{D15CE7C7-C83A-465E-908C-2D5A830A156C}" destId="{9D8E5A8B-1B88-49A5-90C0-62DF82833499}" srcOrd="6" destOrd="0" parTransId="{5D215B6D-7D93-4084-A707-DCDCB720C6B7}" sibTransId="{BD01A117-FAF3-4A59-AE31-1E640807D1A0}"/>
    <dgm:cxn modelId="{D174D073-73E1-4180-8207-8FE4FD8AC6AE}" type="presOf" srcId="{64066BC3-246A-4C0F-904F-159294794B04}" destId="{117E0B1C-88B4-4D8A-A4B1-5959D1498D18}" srcOrd="0" destOrd="5" presId="urn:microsoft.com/office/officeart/2005/8/layout/hList1"/>
    <dgm:cxn modelId="{A045EB07-2065-4852-8FAC-8DB550233CE8}" type="presOf" srcId="{D9B2EE32-0DE2-4A74-956D-5C614F50161D}" destId="{6120BB60-7CD5-4045-B15E-2876F23500B4}" srcOrd="0" destOrd="3" presId="urn:microsoft.com/office/officeart/2005/8/layout/hList1"/>
    <dgm:cxn modelId="{1C76DD5D-2D9A-454C-839F-7C6D40C15B5A}" srcId="{D15CE7C7-C83A-465E-908C-2D5A830A156C}" destId="{A4A1956B-E41B-4ACA-899C-9AA467AB1A7A}" srcOrd="0" destOrd="0" parTransId="{724CEDA9-0D05-4CFF-8C49-C83B3DA1979B}" sibTransId="{A76FCB99-8CC0-40D8-B071-85F2714A5A8A}"/>
    <dgm:cxn modelId="{89848988-D5B9-4BE3-8D5D-305F277608B5}" srcId="{814A9921-8169-4FD5-B070-773730641ADE}" destId="{F0A0B1A3-ED33-44CD-8238-EBF5FA17A4D2}" srcOrd="9" destOrd="0" parTransId="{E5B55C3B-D5D4-4A73-AF44-CE40DF3F87BC}" sibTransId="{AB3BBF20-F6D4-4432-A3F0-B3E12555ECBB}"/>
    <dgm:cxn modelId="{9DF417E5-126A-4CD8-B1D4-B629CA718EDA}" srcId="{CF8CD58D-2271-4DA3-9167-30AD726BEAF7}" destId="{7AF7F490-FD86-4824-94E3-E523D40770BA}" srcOrd="3" destOrd="0" parTransId="{DCA7F01F-9291-4C23-B5B2-7116CB8AF5ED}" sibTransId="{A46C0DDD-B625-4288-B353-588E60D8EED9}"/>
    <dgm:cxn modelId="{AD530228-7CC9-4E8A-9143-98716CFA28D1}" type="presOf" srcId="{6CE17A44-C088-45AF-93F6-EBA7719A6989}" destId="{6120BB60-7CD5-4045-B15E-2876F23500B4}" srcOrd="0" destOrd="7" presId="urn:microsoft.com/office/officeart/2005/8/layout/hList1"/>
    <dgm:cxn modelId="{F791D304-93C4-4320-A1F7-5CAF4FD93B00}" type="presOf" srcId="{7616540D-035D-4AA9-8EEE-F098E9DC9D38}" destId="{117E0B1C-88B4-4D8A-A4B1-5959D1498D18}" srcOrd="0" destOrd="8" presId="urn:microsoft.com/office/officeart/2005/8/layout/hList1"/>
    <dgm:cxn modelId="{9D42F637-4771-4A71-A13A-D99AE1FD5ACD}" srcId="{814A9921-8169-4FD5-B070-773730641ADE}" destId="{D917E1CE-1922-42E2-B47B-25899E777D05}" srcOrd="11" destOrd="0" parTransId="{6BE8E5F6-EA3F-4AE5-86EC-ADA39ED1C617}" sibTransId="{87B84BED-F0D6-4EBD-AC1F-8A1DDBF087F8}"/>
    <dgm:cxn modelId="{6373611E-70D8-4085-8632-3941177ECB45}" srcId="{D15CE7C7-C83A-465E-908C-2D5A830A156C}" destId="{5B7FD622-3DD5-4A75-B203-E1C4310BF6C4}" srcOrd="1" destOrd="0" parTransId="{FD54CF73-378D-43D6-AACA-947CAA825C67}" sibTransId="{6F9CFDDA-9EBC-42E6-95AB-45EE4DD9B35D}"/>
    <dgm:cxn modelId="{3D45907A-8D1B-4872-A044-59AEE8706BB7}" type="presOf" srcId="{2E34E2E7-E276-497E-B043-7FB8CA09B3E5}" destId="{6903E76C-865D-443C-9AAB-D7753735ABEA}" srcOrd="0" destOrd="4" presId="urn:microsoft.com/office/officeart/2005/8/layout/hList1"/>
    <dgm:cxn modelId="{8808C3B9-CFA2-4B3C-8743-A588A79F6EC6}" srcId="{CF8CD58D-2271-4DA3-9167-30AD726BEAF7}" destId="{D393A3A1-50E3-4D1B-B666-B036201C9B94}" srcOrd="0" destOrd="0" parTransId="{B7240EFD-272D-42AE-89AA-551E0D4CC5B2}" sibTransId="{E8B2752D-CE65-4ECB-8F88-E13FCC715B5F}"/>
    <dgm:cxn modelId="{7DC673BF-98AF-4CB3-83EE-EEF3F85412B2}" type="presOf" srcId="{E801FA28-2432-41B4-A108-CFCFFEC52CD0}" destId="{6903E76C-865D-443C-9AAB-D7753735ABEA}" srcOrd="0" destOrd="1" presId="urn:microsoft.com/office/officeart/2005/8/layout/hList1"/>
    <dgm:cxn modelId="{0AAC2BFA-1968-4B5B-9FB9-287DE4BB29E3}" type="presOf" srcId="{1A1339F6-0306-4069-84DB-7B7334CEE5AF}" destId="{117E0B1C-88B4-4D8A-A4B1-5959D1498D18}" srcOrd="0" destOrd="3" presId="urn:microsoft.com/office/officeart/2005/8/layout/hList1"/>
    <dgm:cxn modelId="{041DBF9C-203F-45A4-8146-31D73D57226D}" srcId="{D15CE7C7-C83A-465E-908C-2D5A830A156C}" destId="{6CE17A44-C088-45AF-93F6-EBA7719A6989}" srcOrd="7" destOrd="0" parTransId="{A0031F9B-B900-413B-A2C4-5C1B520E82DC}" sibTransId="{C11C8C19-FEF6-4A6E-BD44-CFC1203D5A73}"/>
    <dgm:cxn modelId="{B1103AA1-8E04-4021-A71B-74D607987C64}" type="presOf" srcId="{3640347A-237F-4D58-9AD0-29E097E3B0F2}" destId="{41CB4E7A-E041-4FE3-9525-FE04F672AF7B}" srcOrd="0" destOrd="0" presId="urn:microsoft.com/office/officeart/2005/8/layout/hList1"/>
    <dgm:cxn modelId="{FCB96713-9F10-4389-BB92-05F3B939CE5A}" srcId="{814A9921-8169-4FD5-B070-773730641ADE}" destId="{64066BC3-246A-4C0F-904F-159294794B04}" srcOrd="5" destOrd="0" parTransId="{C44A3D1C-968D-4EC6-A5DD-363A974894DE}" sibTransId="{07296417-175D-4812-B677-5C002B5AD8C6}"/>
    <dgm:cxn modelId="{CC303769-5AAB-45B9-ABC5-E68D6985B8BA}" type="presOf" srcId="{53AC9BBB-0E53-4DFB-B0BE-27C7A8F9A5C8}" destId="{117E0B1C-88B4-4D8A-A4B1-5959D1498D18}" srcOrd="0" destOrd="7" presId="urn:microsoft.com/office/officeart/2005/8/layout/hList1"/>
    <dgm:cxn modelId="{7F0B9C27-DFA5-444C-BB8F-A37275F07230}" srcId="{CF8CD58D-2271-4DA3-9167-30AD726BEAF7}" destId="{2E34E2E7-E276-497E-B043-7FB8CA09B3E5}" srcOrd="4" destOrd="0" parTransId="{B59E4285-C500-4C98-9FED-B869DCEEE2DB}" sibTransId="{6F5FADD7-8625-425D-B2CC-BBE024904AC6}"/>
    <dgm:cxn modelId="{6E5B87EA-C2E0-4A32-BCF4-57B6829FD61D}" srcId="{814A9921-8169-4FD5-B070-773730641ADE}" destId="{64F8CE22-B486-4986-AA2E-40D3289D92EF}" srcOrd="4" destOrd="0" parTransId="{5AD3B05C-7D67-45C8-AF78-71CA22E006F6}" sibTransId="{962BC56F-D9A5-4141-8B60-B2A9F70F0CCB}"/>
    <dgm:cxn modelId="{B529B59C-6BFB-4988-8330-E7D6B78555F4}" type="presOf" srcId="{1CABACDD-9E3F-471A-AE36-5310B4FACB00}" destId="{6120BB60-7CD5-4045-B15E-2876F23500B4}" srcOrd="0" destOrd="4" presId="urn:microsoft.com/office/officeart/2005/8/layout/hList1"/>
    <dgm:cxn modelId="{96D8C05C-DCA3-4274-A16C-306B9F79E4C8}" type="presOf" srcId="{5F9FA755-9B18-442E-9454-53F110420447}" destId="{117E0B1C-88B4-4D8A-A4B1-5959D1498D18}" srcOrd="0" destOrd="1" presId="urn:microsoft.com/office/officeart/2005/8/layout/hList1"/>
    <dgm:cxn modelId="{9276111E-4AD1-400A-8165-DCFB293046C9}" type="presOf" srcId="{CF8CD58D-2271-4DA3-9167-30AD726BEAF7}" destId="{E5F418CF-51BA-49A5-AC28-1E57FFD5C63B}" srcOrd="0" destOrd="0" presId="urn:microsoft.com/office/officeart/2005/8/layout/hList1"/>
    <dgm:cxn modelId="{0F1D2F34-7E8F-43B0-85E6-E4F7B310630D}" type="presOf" srcId="{9D8E5A8B-1B88-49A5-90C0-62DF82833499}" destId="{6120BB60-7CD5-4045-B15E-2876F23500B4}" srcOrd="0" destOrd="6" presId="urn:microsoft.com/office/officeart/2005/8/layout/hList1"/>
    <dgm:cxn modelId="{C351E5FA-EEC3-4D8B-A5F9-05E28F4458EE}" srcId="{D15CE7C7-C83A-465E-908C-2D5A830A156C}" destId="{D9B2EE32-0DE2-4A74-956D-5C614F50161D}" srcOrd="3" destOrd="0" parTransId="{8CC0F939-8006-4773-BD28-F5F5B462EFF6}" sibTransId="{685DB822-C157-4150-8724-0004623E3653}"/>
    <dgm:cxn modelId="{3E6E6FC4-1E0E-48CE-A933-8804D4741761}" type="presOf" srcId="{35406C25-F6EA-4A6D-97CF-1A30207221E9}" destId="{6120BB60-7CD5-4045-B15E-2876F23500B4}" srcOrd="0" destOrd="5" presId="urn:microsoft.com/office/officeart/2005/8/layout/hList1"/>
    <dgm:cxn modelId="{6F62043B-CB18-454D-AD88-CA61E567C77B}" srcId="{814A9921-8169-4FD5-B070-773730641ADE}" destId="{53AC9BBB-0E53-4DFB-B0BE-27C7A8F9A5C8}" srcOrd="7" destOrd="0" parTransId="{4BDB255B-EDFA-40A7-8FAE-DFDEE31A36AC}" sibTransId="{4DFC9688-45D0-471D-95F0-6FCB8514D72F}"/>
    <dgm:cxn modelId="{95AA4A32-4439-4C2E-8D6D-5C8914F01F94}" srcId="{D15CE7C7-C83A-465E-908C-2D5A830A156C}" destId="{44F2B9A3-B2F1-4737-AD76-DE5817B2A09C}" srcOrd="2" destOrd="0" parTransId="{540C191C-2B24-49A9-A259-6F8180A33D01}" sibTransId="{50F7A054-372E-48AE-ACFA-3D890A6429F3}"/>
    <dgm:cxn modelId="{E47A7130-23ED-4DDF-A0D8-5585A51C1E81}" srcId="{3640347A-237F-4D58-9AD0-29E097E3B0F2}" destId="{CF8CD58D-2271-4DA3-9167-30AD726BEAF7}" srcOrd="2" destOrd="0" parTransId="{0F238291-F940-4842-99D4-CEE7D2A30DA6}" sibTransId="{9D8CED56-A46B-4E78-BA95-97A80D753530}"/>
    <dgm:cxn modelId="{65C5A31D-7F30-46A5-8BE3-3A4C3BE5CA97}" type="presOf" srcId="{D917E1CE-1922-42E2-B47B-25899E777D05}" destId="{117E0B1C-88B4-4D8A-A4B1-5959D1498D18}" srcOrd="0" destOrd="11" presId="urn:microsoft.com/office/officeart/2005/8/layout/hList1"/>
    <dgm:cxn modelId="{F5C1FB52-1B70-4963-817D-C87A5FF6F4D5}" type="presOf" srcId="{7AF7F490-FD86-4824-94E3-E523D40770BA}" destId="{6903E76C-865D-443C-9AAB-D7753735ABEA}" srcOrd="0" destOrd="3" presId="urn:microsoft.com/office/officeart/2005/8/layout/hList1"/>
    <dgm:cxn modelId="{A040D3A5-6A7F-4235-BD1C-E3AE4FE679E3}" type="presOf" srcId="{CE2BD036-437B-433A-959E-46721367AF6F}" destId="{117E0B1C-88B4-4D8A-A4B1-5959D1498D18}" srcOrd="0" destOrd="2" presId="urn:microsoft.com/office/officeart/2005/8/layout/hList1"/>
    <dgm:cxn modelId="{DC2233B7-C1D8-4C2C-9A1B-844D963E1331}" type="presOf" srcId="{392C68C0-3DFA-4ACD-9760-51F1BAAEB126}" destId="{117E0B1C-88B4-4D8A-A4B1-5959D1498D18}" srcOrd="0" destOrd="10" presId="urn:microsoft.com/office/officeart/2005/8/layout/hList1"/>
    <dgm:cxn modelId="{3D1DBFB7-DFAB-4954-A2B0-818A01CC77C5}" type="presOf" srcId="{814A9921-8169-4FD5-B070-773730641ADE}" destId="{5EC48FFD-D232-42A3-BFA8-54C55801F63F}" srcOrd="0" destOrd="0" presId="urn:microsoft.com/office/officeart/2005/8/layout/hList1"/>
    <dgm:cxn modelId="{10E419E6-F023-4DAC-886E-30ACE499C3C2}" srcId="{814A9921-8169-4FD5-B070-773730641ADE}" destId="{45817BF5-5C6E-4AB9-8FCE-99207C16F717}" srcOrd="6" destOrd="0" parTransId="{05887FCD-0DF4-4FB5-9076-667AD4139B16}" sibTransId="{888557B1-B58B-46EC-B273-8033CA9B9751}"/>
    <dgm:cxn modelId="{A3813620-4B94-42D6-8EAC-7E3852449283}" srcId="{814A9921-8169-4FD5-B070-773730641ADE}" destId="{E233BF9B-1818-410A-BCE2-4A62FCAA196F}" srcOrd="0" destOrd="0" parTransId="{7957F053-5526-42A9-A645-7089E859288D}" sibTransId="{CFB80119-D560-4E68-907C-F7DB81A3EFCC}"/>
    <dgm:cxn modelId="{3B917FB6-5DB2-40E3-89E8-EE175007681E}" srcId="{814A9921-8169-4FD5-B070-773730641ADE}" destId="{392C68C0-3DFA-4ACD-9760-51F1BAAEB126}" srcOrd="10" destOrd="0" parTransId="{58CCDEBF-9315-4BAF-9349-4F3349475246}" sibTransId="{8495E892-EB74-4C4C-AA84-00DBB1DA2739}"/>
    <dgm:cxn modelId="{263D6C93-EE5D-43E1-ACFB-8DA7E9E906F7}" type="presParOf" srcId="{41CB4E7A-E041-4FE3-9525-FE04F672AF7B}" destId="{A266ECF6-B6EF-410A-8E5C-6C3E05CF84CF}" srcOrd="0" destOrd="0" presId="urn:microsoft.com/office/officeart/2005/8/layout/hList1"/>
    <dgm:cxn modelId="{5030D981-162B-449B-BD7E-E1A9ED721A59}" type="presParOf" srcId="{A266ECF6-B6EF-410A-8E5C-6C3E05CF84CF}" destId="{5EC48FFD-D232-42A3-BFA8-54C55801F63F}" srcOrd="0" destOrd="0" presId="urn:microsoft.com/office/officeart/2005/8/layout/hList1"/>
    <dgm:cxn modelId="{9FD5D76E-89B5-4571-977C-4E1A59D2D59A}" type="presParOf" srcId="{A266ECF6-B6EF-410A-8E5C-6C3E05CF84CF}" destId="{117E0B1C-88B4-4D8A-A4B1-5959D1498D18}" srcOrd="1" destOrd="0" presId="urn:microsoft.com/office/officeart/2005/8/layout/hList1"/>
    <dgm:cxn modelId="{B0A017B8-924F-4D8A-A5CD-7CE27584010D}" type="presParOf" srcId="{41CB4E7A-E041-4FE3-9525-FE04F672AF7B}" destId="{147CC0F5-53E2-4000-8750-E0A07761CBA5}" srcOrd="1" destOrd="0" presId="urn:microsoft.com/office/officeart/2005/8/layout/hList1"/>
    <dgm:cxn modelId="{0F05CDE8-6169-4CD2-84F1-3372F6EF7C16}" type="presParOf" srcId="{41CB4E7A-E041-4FE3-9525-FE04F672AF7B}" destId="{16008673-1369-460D-8E23-4655BDBBFF83}" srcOrd="2" destOrd="0" presId="urn:microsoft.com/office/officeart/2005/8/layout/hList1"/>
    <dgm:cxn modelId="{7B673460-F17A-4D2B-AD79-859535243DFE}" type="presParOf" srcId="{16008673-1369-460D-8E23-4655BDBBFF83}" destId="{2FB925CC-5DA1-458F-93EA-CD2400EACFD6}" srcOrd="0" destOrd="0" presId="urn:microsoft.com/office/officeart/2005/8/layout/hList1"/>
    <dgm:cxn modelId="{324B525D-37F0-4C59-8360-9EA3DB106FE8}" type="presParOf" srcId="{16008673-1369-460D-8E23-4655BDBBFF83}" destId="{6120BB60-7CD5-4045-B15E-2876F23500B4}" srcOrd="1" destOrd="0" presId="urn:microsoft.com/office/officeart/2005/8/layout/hList1"/>
    <dgm:cxn modelId="{8D48262F-EA1A-42DC-9B72-168948505C9E}" type="presParOf" srcId="{41CB4E7A-E041-4FE3-9525-FE04F672AF7B}" destId="{264F955E-911E-466C-8D72-AECE13958969}" srcOrd="3" destOrd="0" presId="urn:microsoft.com/office/officeart/2005/8/layout/hList1"/>
    <dgm:cxn modelId="{C7FE0B57-052C-4DEF-8FD5-BBC68CF2BAF1}" type="presParOf" srcId="{41CB4E7A-E041-4FE3-9525-FE04F672AF7B}" destId="{003E659F-71B8-4CF1-9793-FFFD105FC651}" srcOrd="4" destOrd="0" presId="urn:microsoft.com/office/officeart/2005/8/layout/hList1"/>
    <dgm:cxn modelId="{8E59C127-5911-4A6B-8DD5-CBF88B1F3B02}" type="presParOf" srcId="{003E659F-71B8-4CF1-9793-FFFD105FC651}" destId="{E5F418CF-51BA-49A5-AC28-1E57FFD5C63B}" srcOrd="0" destOrd="0" presId="urn:microsoft.com/office/officeart/2005/8/layout/hList1"/>
    <dgm:cxn modelId="{68F891DF-4D72-4F44-9806-57DFF7400670}" type="presParOf" srcId="{003E659F-71B8-4CF1-9793-FFFD105FC651}" destId="{6903E76C-865D-443C-9AAB-D7753735ABEA}" srcOrd="1" destOrd="0" presId="urn:microsoft.com/office/officeart/2005/8/layout/hList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3BC550-C507-4FD8-8C38-52A25A8D68DB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95C29-918F-4EC1-BC7C-D7CCC60F5D5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26" Type="http://schemas.openxmlformats.org/officeDocument/2006/relationships/image" Target="../media/image55.png"/><Relationship Id="rId3" Type="http://schemas.openxmlformats.org/officeDocument/2006/relationships/image" Target="../media/image32.png"/><Relationship Id="rId21" Type="http://schemas.openxmlformats.org/officeDocument/2006/relationships/image" Target="../media/image50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5" Type="http://schemas.openxmlformats.org/officeDocument/2006/relationships/image" Target="../media/image54.png"/><Relationship Id="rId2" Type="http://schemas.openxmlformats.org/officeDocument/2006/relationships/image" Target="../media/image31.png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24" Type="http://schemas.openxmlformats.org/officeDocument/2006/relationships/image" Target="../media/image53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23" Type="http://schemas.openxmlformats.org/officeDocument/2006/relationships/image" Target="../media/image52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Relationship Id="rId22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632BE5BF-9922-45FB-8F3F-4446D40A051B}"/>
              </a:ext>
            </a:extLst>
          </p:cNvPr>
          <p:cNvSpPr txBox="1">
            <a:spLocks/>
          </p:cNvSpPr>
          <p:nvPr/>
        </p:nvSpPr>
        <p:spPr>
          <a:xfrm>
            <a:off x="457200" y="1428750"/>
            <a:ext cx="8686801" cy="705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2000" b="1" i="0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rebuchet MS (Headings)"/>
                <a:ea typeface="+mj-ea"/>
                <a:cs typeface="+mj-cs"/>
              </a:rPr>
              <a:t>Topic :</a:t>
            </a:r>
            <a:r>
              <a:rPr kumimoji="0" lang="en-US" sz="2000" b="1" i="0" strike="noStrike" kern="1200" cap="none" spc="0" normalizeH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rebuchet MS (Headings)"/>
                <a:ea typeface="+mj-ea"/>
                <a:cs typeface="+mj-cs"/>
              </a:rPr>
              <a:t> </a:t>
            </a:r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  <a:latin typeface="Trebuchet MS (Headings)"/>
                <a:ea typeface="+mj-ea"/>
                <a:cs typeface="+mj-cs"/>
              </a:rPr>
              <a:t>Prediction of Kidney Disease using Machine Learning Algorithms</a:t>
            </a:r>
            <a:endParaRPr kumimoji="0" lang="en-US" sz="2000" b="1" i="0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rebuchet MS (Headings)"/>
              <a:ea typeface="+mj-ea"/>
              <a:cs typeface="+mj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632BE5BF-9922-45FB-8F3F-4446D40A051B}"/>
              </a:ext>
            </a:extLst>
          </p:cNvPr>
          <p:cNvSpPr txBox="1">
            <a:spLocks/>
          </p:cNvSpPr>
          <p:nvPr/>
        </p:nvSpPr>
        <p:spPr>
          <a:xfrm>
            <a:off x="1981200" y="2514601"/>
            <a:ext cx="7162800" cy="28003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 smtClean="0"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Submit by</a:t>
            </a:r>
            <a:endParaRPr kumimoji="0" lang="en-US" sz="16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rebuchet MS (Headings)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rebuchet MS (Headings)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MD ASHIK MIAH (0122310005)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ebuchet MS (Headings)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 smtClean="0"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Semester </a:t>
            </a:r>
            <a:r>
              <a:rPr lang="en-US" sz="1600" b="1" dirty="0"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1600" b="1" dirty="0" smtClean="0"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r>
              <a:rPr lang="en-US" sz="1600" b="1" baseline="30000" dirty="0" smtClean="0"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 smtClean="0"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Section: M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 smtClean="0"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Program : MSCSE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b="1" dirty="0">
              <a:latin typeface="Trebuchet MS (Headings)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600" b="1" dirty="0"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Course Name : </a:t>
            </a:r>
            <a:r>
              <a:rPr lang="en-US" sz="1600" b="1" dirty="0" smtClean="0"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Data Analytics</a:t>
            </a:r>
            <a:endParaRPr lang="en-US" sz="1600" b="1" dirty="0">
              <a:latin typeface="Trebuchet MS (Headings)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600" b="1" dirty="0"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Course Code : </a:t>
            </a:r>
            <a:r>
              <a:rPr lang="en-US" sz="1600" b="1" dirty="0" smtClean="0"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CSE 6207</a:t>
            </a:r>
            <a:endParaRPr lang="en-US" sz="1600" b="1" dirty="0">
              <a:latin typeface="Trebuchet MS (Headings)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="1" dirty="0" smtClean="0">
              <a:latin typeface="Trebuchet MS (Headings)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000" b="1" dirty="0" smtClean="0"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Submit </a:t>
            </a:r>
            <a:r>
              <a:rPr lang="en-US" sz="2000" b="1" dirty="0"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To : </a:t>
            </a:r>
            <a:r>
              <a:rPr lang="en-US" sz="2000" b="1" dirty="0" smtClean="0"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Dr. </a:t>
            </a:r>
            <a:r>
              <a:rPr lang="en-US" sz="2000" b="1" dirty="0" err="1" smtClean="0"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Riasat</a:t>
            </a:r>
            <a:r>
              <a:rPr lang="en-US" sz="2000" b="1" dirty="0" smtClean="0"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 smtClean="0"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Azim</a:t>
            </a:r>
            <a:endParaRPr lang="en-US" sz="2000" b="1" dirty="0" smtClean="0">
              <a:latin typeface="Trebuchet MS (Headings)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ebuchet MS (Headings)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 descr="About Image-01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302350"/>
            <a:ext cx="1260000" cy="1260000"/>
          </a:xfrm>
          <a:prstGeom prst="ellipse">
            <a:avLst/>
          </a:prstGeom>
          <a:ln w="19050" cap="rnd">
            <a:solidFill>
              <a:schemeClr val="accent2">
                <a:lumMod val="75000"/>
              </a:schemeClr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" name="Picture 8" descr="United International University - Wikipedia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0000" y="209550"/>
            <a:ext cx="1267800" cy="1159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632BE5BF-9922-45FB-8F3F-4446D40A051B}"/>
              </a:ext>
            </a:extLst>
          </p:cNvPr>
          <p:cNvSpPr txBox="1">
            <a:spLocks/>
          </p:cNvSpPr>
          <p:nvPr/>
        </p:nvSpPr>
        <p:spPr>
          <a:xfrm>
            <a:off x="1371600" y="-19050"/>
            <a:ext cx="7676774" cy="7892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normalizeH="0" baseline="0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Welcome</a:t>
            </a:r>
            <a:r>
              <a:rPr kumimoji="0" lang="en-US" sz="4000" b="1" i="0" u="none" strike="noStrike" kern="1200" normalizeH="0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 to </a:t>
            </a:r>
            <a:r>
              <a:rPr lang="en-US" sz="4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Our</a:t>
            </a:r>
            <a:r>
              <a:rPr kumimoji="0" lang="en-US" sz="4000" b="1" i="0" u="none" strike="noStrike" kern="1200" normalizeH="0" noProof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400" b="1" i="0" u="none" strike="noStrike" kern="1200" normalizeH="0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Presentation</a:t>
            </a:r>
            <a:endParaRPr kumimoji="0" lang="en-US" sz="4400" b="1" i="0" u="none" strike="noStrike" kern="1200" normalizeH="0" baseline="0" noProof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Trebuchet MS (Headings)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632BE5BF-9922-45FB-8F3F-4446D40A051B}"/>
              </a:ext>
            </a:extLst>
          </p:cNvPr>
          <p:cNvSpPr txBox="1">
            <a:spLocks/>
          </p:cNvSpPr>
          <p:nvPr/>
        </p:nvSpPr>
        <p:spPr>
          <a:xfrm>
            <a:off x="1295400" y="715746"/>
            <a:ext cx="7676774" cy="6368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United</a:t>
            </a:r>
            <a:r>
              <a:rPr kumimoji="0" lang="en-US" sz="3200" b="1" i="0" u="none" strike="noStrike" kern="1200" normalizeH="0" baseline="0" noProof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3200" b="1" i="0" u="none" strike="noStrike" kern="1200" normalizeH="0" baseline="0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Trebuchet MS (Headings)"/>
                <a:ea typeface="Tahoma" panose="020B0604030504040204" pitchFamily="34" charset="0"/>
                <a:cs typeface="Tahoma" panose="020B0604030504040204" pitchFamily="34" charset="0"/>
              </a:rPr>
              <a:t>International University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3422" y="1200150"/>
            <a:ext cx="1042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2">
                    <a:lumMod val="75000"/>
                  </a:schemeClr>
                </a:solidFill>
              </a:rPr>
              <a:t>Problems:</a:t>
            </a:r>
            <a:endParaRPr 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1581150"/>
            <a:ext cx="8153400" cy="2877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sz="1200" dirty="0" smtClean="0"/>
              <a:t>  Globally, chronic kidney disease directly resulted in an </a:t>
            </a:r>
            <a:r>
              <a:rPr lang="en-US" sz="1200" b="1" dirty="0" smtClean="0"/>
              <a:t>estimated 1.23 million deaths in 2017 with an additional 1.36 million deaths</a:t>
            </a:r>
            <a:r>
              <a:rPr lang="en-US" sz="1200" dirty="0" smtClean="0"/>
              <a:t> attributable to cardiovascular disease resulting from impaired kidney function (</a:t>
            </a:r>
            <a:r>
              <a:rPr lang="en-US" sz="1200" dirty="0" err="1" smtClean="0"/>
              <a:t>HealthData</a:t>
            </a:r>
            <a:r>
              <a:rPr lang="en-US" sz="1200" dirty="0" smtClean="0"/>
              <a:t>). </a:t>
            </a:r>
          </a:p>
          <a:p>
            <a:pPr algn="just"/>
            <a:endParaRPr lang="en-US" sz="500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1200" dirty="0" smtClean="0"/>
              <a:t> The vital statistics survey of Bangladesh Bureau of Statistics (BBS</a:t>
            </a:r>
            <a:r>
              <a:rPr lang="en-US" sz="1200" b="1" dirty="0" smtClean="0"/>
              <a:t>) found that 28,017 people had died from kidney disease in 2020, up from 10,622 a year before </a:t>
            </a:r>
            <a:r>
              <a:rPr lang="en-US" sz="1200" dirty="0" smtClean="0"/>
              <a:t>(BBS).</a:t>
            </a:r>
          </a:p>
          <a:p>
            <a:pPr algn="just"/>
            <a:endParaRPr lang="en-US" sz="500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1200" dirty="0" smtClean="0"/>
              <a:t> According to the latest WHO data published in 2020 Kidney Disease Deaths </a:t>
            </a:r>
            <a:r>
              <a:rPr lang="en-US" sz="1200" b="1" dirty="0" smtClean="0"/>
              <a:t>in Bangladesh reached 10,841 or 1.51% of total deaths</a:t>
            </a:r>
            <a:r>
              <a:rPr lang="en-US" sz="1200" dirty="0" smtClean="0"/>
              <a:t> (</a:t>
            </a:r>
            <a:r>
              <a:rPr lang="en-US" sz="1200" dirty="0" err="1" smtClean="0"/>
              <a:t>worldlifeexpectancy</a:t>
            </a:r>
            <a:r>
              <a:rPr lang="en-US" sz="1200" dirty="0" smtClean="0"/>
              <a:t>).</a:t>
            </a:r>
          </a:p>
          <a:p>
            <a:pPr algn="just">
              <a:buFont typeface="Wingdings" pitchFamily="2" charset="2"/>
              <a:buChar char="ü"/>
            </a:pPr>
            <a:endParaRPr lang="en-US" sz="500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1200" dirty="0" smtClean="0"/>
              <a:t> The outcomes of the included studies (nine studies, a total of 225,206 participants) based on meta-analysis showed an overall prevalence of CKD in </a:t>
            </a:r>
            <a:r>
              <a:rPr lang="en-US" sz="1200" b="1" dirty="0" smtClean="0"/>
              <a:t>Bangladeshi people of 22.48%</a:t>
            </a:r>
            <a:r>
              <a:rPr lang="en-US" sz="1200" dirty="0" smtClean="0"/>
              <a:t>, which was higher than the global prevalence of CKD [17].</a:t>
            </a:r>
          </a:p>
          <a:p>
            <a:pPr algn="just"/>
            <a:endParaRPr lang="en-US" sz="500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1200" dirty="0" smtClean="0"/>
              <a:t> Just over 3 million people in the UK are thought to be at risk for CKD. There were 697.5 million cases of chronic kidney disease in 2017 (</a:t>
            </a:r>
            <a:r>
              <a:rPr lang="en-US" sz="1200" dirty="0" err="1" smtClean="0"/>
              <a:t>HealthData</a:t>
            </a:r>
            <a:r>
              <a:rPr lang="en-US" sz="1200" dirty="0" smtClean="0"/>
              <a:t>). </a:t>
            </a:r>
          </a:p>
          <a:p>
            <a:pPr algn="just"/>
            <a:endParaRPr lang="en-US" sz="500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1200" dirty="0" smtClean="0"/>
              <a:t> Nearly one-third of those patients lived in two countries – China, with about 132 million cases, and India, with about 115 million. Further, 10 other nations </a:t>
            </a:r>
            <a:r>
              <a:rPr lang="en-US" sz="1200" b="1" dirty="0" smtClean="0"/>
              <a:t>the US, Indonesia, Russia, Japan, Brazil, Pakistan, Mexico, Nigeria, Bangladesh, and Vietnam</a:t>
            </a:r>
            <a:r>
              <a:rPr lang="en-US" sz="1200" dirty="0" smtClean="0"/>
              <a:t> each had more than 10 million cases in 2017 (</a:t>
            </a:r>
            <a:r>
              <a:rPr lang="en-US" sz="1200" dirty="0" err="1" smtClean="0"/>
              <a:t>HealthData</a:t>
            </a:r>
            <a:r>
              <a:rPr lang="en-US" sz="1200" dirty="0" smtClean="0"/>
              <a:t>).</a:t>
            </a:r>
            <a:endParaRPr 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19050"/>
            <a:ext cx="9144000" cy="76944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</a:rPr>
              <a:t>Introduction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861596"/>
            <a:ext cx="3640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u="sng" dirty="0" smtClean="0">
                <a:solidFill>
                  <a:schemeClr val="tx2">
                    <a:lumMod val="75000"/>
                  </a:schemeClr>
                </a:solidFill>
              </a:rPr>
              <a:t>Existing Work: Prediction Kidney Disease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255753"/>
            <a:ext cx="79248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/>
              <a:t>[6] "Predictive analytics for chronic kidney disease using machine learning techniques "</a:t>
            </a:r>
            <a:r>
              <a:rPr lang="en-US" sz="1400" dirty="0" smtClean="0"/>
              <a:t> (MITIC-2016):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838200" y="1581150"/>
            <a:ext cx="7543800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sz="1200" dirty="0" smtClean="0"/>
              <a:t>  The study emphasized the importance of feature selection in improving model performance.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1200" dirty="0" smtClean="0"/>
              <a:t>  This research focused on predicting the progression of kidney disease using machine learning.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1200" dirty="0" smtClean="0"/>
              <a:t>  It examined various predictive models, including logistic regression, K-nearest neighbors (KNN), support vector   machine (SVM).</a:t>
            </a:r>
          </a:p>
          <a:p>
            <a:pPr algn="just"/>
            <a:endParaRPr lang="en-US" sz="3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533400" y="2412653"/>
            <a:ext cx="8001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smtClean="0"/>
              <a:t>[1] "Chronic Kidney Disease Prediction on Imbalanced Data by Multilayer </a:t>
            </a:r>
            <a:r>
              <a:rPr lang="en-US" sz="1400" b="1" dirty="0" err="1" smtClean="0"/>
              <a:t>Perceptron</a:t>
            </a:r>
            <a:r>
              <a:rPr lang="en-US" sz="1400" b="1" dirty="0" smtClean="0"/>
              <a:t> "</a:t>
            </a:r>
            <a:r>
              <a:rPr lang="en-US" sz="1400" dirty="0" smtClean="0"/>
              <a:t> (IEEE ACSAC-2017):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838200" y="2717453"/>
            <a:ext cx="7543800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sz="1200" dirty="0" smtClean="0"/>
              <a:t>  This study proposed techniques to improve the prediction of chronic kidney disease, with a specific focus on addressing class imbalance.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1200" dirty="0" smtClean="0"/>
              <a:t>  It explored the use of synthetic data generation and ensemble learning methods.</a:t>
            </a:r>
          </a:p>
          <a:p>
            <a:pPr algn="just">
              <a:buFont typeface="Wingdings" pitchFamily="2" charset="2"/>
              <a:buChar char="ü"/>
            </a:pPr>
            <a:endParaRPr lang="en-US" sz="300" dirty="0" smtClean="0"/>
          </a:p>
        </p:txBody>
      </p:sp>
      <p:sp>
        <p:nvSpPr>
          <p:cNvPr id="10" name="Rectangle 9"/>
          <p:cNvSpPr/>
          <p:nvPr/>
        </p:nvSpPr>
        <p:spPr>
          <a:xfrm>
            <a:off x="533400" y="3409950"/>
            <a:ext cx="7924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smtClean="0"/>
              <a:t>[12] " </a:t>
            </a:r>
            <a:r>
              <a:rPr lang="en-US" sz="1400" b="1" dirty="0" err="1" smtClean="0"/>
              <a:t>MedAi</a:t>
            </a:r>
            <a:r>
              <a:rPr lang="en-US" sz="1400" b="1" dirty="0" smtClean="0"/>
              <a:t>: A </a:t>
            </a:r>
            <a:r>
              <a:rPr lang="en-US" sz="1400" b="1" dirty="0" err="1" smtClean="0"/>
              <a:t>Smartwatch</a:t>
            </a:r>
            <a:r>
              <a:rPr lang="en-US" sz="1400" b="1" dirty="0" smtClean="0"/>
              <a:t>-Based Application Framework for the Prediction of Common Diseases Using Machine Learning " </a:t>
            </a:r>
            <a:r>
              <a:rPr lang="en-US" sz="1400" dirty="0" smtClean="0"/>
              <a:t>(IEEEXplore-2023):</a:t>
            </a:r>
            <a:endParaRPr lang="en-US" sz="1400" dirty="0"/>
          </a:p>
        </p:txBody>
      </p:sp>
      <p:sp>
        <p:nvSpPr>
          <p:cNvPr id="11" name="Rectangle 10"/>
          <p:cNvSpPr/>
          <p:nvPr/>
        </p:nvSpPr>
        <p:spPr>
          <a:xfrm>
            <a:off x="838200" y="3918287"/>
            <a:ext cx="75438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sz="1200" dirty="0" smtClean="0"/>
              <a:t> This research successfully created a framework for the "</a:t>
            </a:r>
            <a:r>
              <a:rPr lang="en-US" sz="1200" dirty="0" err="1" smtClean="0"/>
              <a:t>MedAi</a:t>
            </a:r>
            <a:r>
              <a:rPr lang="en-US" sz="1200" dirty="0" smtClean="0"/>
              <a:t>" system, which involved creating a machine learning model and designing a </a:t>
            </a:r>
            <a:r>
              <a:rPr lang="en-US" sz="1200" dirty="0" err="1" smtClean="0"/>
              <a:t>smartwatch</a:t>
            </a:r>
            <a:r>
              <a:rPr lang="en-US" sz="1200" dirty="0" smtClean="0"/>
              <a:t> with numerous sensors and suggesting a structure for an Android health app that forecasts twelve different types of disease.</a:t>
            </a:r>
            <a:endParaRPr lang="en-US" sz="300" dirty="0" smtClean="0"/>
          </a:p>
          <a:p>
            <a:pPr algn="just">
              <a:buFont typeface="Wingdings" pitchFamily="2" charset="2"/>
              <a:buChar char="ü"/>
            </a:pPr>
            <a:r>
              <a:rPr lang="en-US" sz="1200" dirty="0" smtClean="0"/>
              <a:t>  The RF algorithm was used to build the model, and it produced an accuracy of 99.4% compared to other well-liked techniques like KNN (99.3%) and XGB (98.56%)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-19050"/>
            <a:ext cx="9144000" cy="76944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</a:rPr>
              <a:t>Literature Review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90600" y="285750"/>
            <a:ext cx="3341941" cy="7694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4400" b="1" dirty="0" smtClean="0"/>
              <a:t>Methodology</a:t>
            </a:r>
            <a:endParaRPr lang="en-US" sz="44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0600" y="1581150"/>
            <a:ext cx="298350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Raw data collection.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Preprocessing data.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Feature.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Classification algorithms.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Own Model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Data Train.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Data Test.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Prediction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Classification Report.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Accuracy.</a:t>
            </a:r>
          </a:p>
          <a:p>
            <a:pPr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0" y="4733151"/>
            <a:ext cx="2896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Proposed Chronic Kidney Prediction System</a:t>
            </a:r>
            <a:endParaRPr lang="en-US" sz="12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38" name="Picture 37" descr="Propose Model_TP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575" y="133350"/>
            <a:ext cx="3629025" cy="45529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753130"/>
            <a:ext cx="3200400" cy="52322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6"/>
                </a:solidFill>
              </a:rPr>
              <a:t>Data Set Attributes</a:t>
            </a:r>
            <a:endParaRPr lang="en-US" sz="2800" dirty="0">
              <a:solidFill>
                <a:schemeClr val="accent6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257800" y="235585"/>
          <a:ext cx="3231515" cy="4672330"/>
        </p:xfrm>
        <a:graphic>
          <a:graphicData uri="http://schemas.openxmlformats.org/drawingml/2006/table">
            <a:tbl>
              <a:tblPr/>
              <a:tblGrid>
                <a:gridCol w="608965"/>
                <a:gridCol w="1569720"/>
                <a:gridCol w="1052830"/>
              </a:tblGrid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075" algn="l"/>
                          <a:tab pos="2866390" algn="ctr"/>
                        </a:tabLst>
                      </a:pPr>
                      <a:r>
                        <a:rPr lang="en-US" sz="10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Input Attributes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Type</a:t>
                      </a:r>
                      <a:endParaRPr lang="en-US" sz="10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Age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numerical</a:t>
                      </a:r>
                      <a:endParaRPr lang="en-US" sz="10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Blood pressure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numerical</a:t>
                      </a:r>
                      <a:endParaRPr lang="en-US" sz="10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Specific Gravity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nominal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Albumin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nominal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Sugar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nominal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Red blood cells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nominal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Pus Cell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nominal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Pus Cell clumps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nominal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Bacteria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nominal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Blood </a:t>
                      </a: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Glucose </a:t>
                      </a: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R</a:t>
                      </a: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andom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numerical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Blood </a:t>
                      </a: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Urea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numerical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Serum </a:t>
                      </a:r>
                      <a:r>
                        <a:rPr lang="en-US" sz="1000" dirty="0" err="1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Creatinine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numerical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Sodium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numerical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Potassium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numerical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Hemoglobin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numerical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Packed </a:t>
                      </a: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Cell </a:t>
                      </a: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V</a:t>
                      </a: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olume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numerical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17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White </a:t>
                      </a: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Blood </a:t>
                      </a: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</a:t>
                      </a: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ell </a:t>
                      </a: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</a:t>
                      </a: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ount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numerical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18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Red </a:t>
                      </a: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Blood </a:t>
                      </a: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</a:t>
                      </a: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ell </a:t>
                      </a: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</a:t>
                      </a: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ount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numerical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19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Hypertension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nominal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20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Diabetes Mellitus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nominal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21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Coronary Artery Disease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nominal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22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Appetite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nominal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23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Pedal Edema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nominal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24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Anemia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nominal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25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Class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nominal</a:t>
                      </a:r>
                      <a:endParaRPr lang="en-US" sz="10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1962150"/>
            <a:ext cx="4800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Number of Instances:  400 (250 CKD, 150 </a:t>
            </a:r>
            <a:r>
              <a:rPr lang="en-US" sz="1600" dirty="0" err="1" smtClean="0"/>
              <a:t>notckd</a:t>
            </a:r>
            <a:r>
              <a:rPr lang="en-US" sz="1600" dirty="0" smtClean="0"/>
              <a:t>)</a:t>
            </a:r>
          </a:p>
          <a:p>
            <a:r>
              <a:rPr lang="en-US" sz="1600" dirty="0" smtClean="0"/>
              <a:t>Number of Attributes: 24 + class = 25</a:t>
            </a:r>
          </a:p>
          <a:p>
            <a:r>
              <a:rPr lang="en-US" sz="1600" dirty="0" smtClean="0"/>
              <a:t>	( 11  numeric, 14  nominal)</a:t>
            </a:r>
          </a:p>
          <a:p>
            <a:endParaRPr lang="en-US" sz="1600" dirty="0" smtClean="0"/>
          </a:p>
          <a:p>
            <a:r>
              <a:rPr lang="en-US" sz="1600" dirty="0" smtClean="0"/>
              <a:t>Missing Attribute Values: Denoted by "?“</a:t>
            </a:r>
          </a:p>
          <a:p>
            <a:endParaRPr lang="en-US" sz="1600" dirty="0" smtClean="0"/>
          </a:p>
          <a:p>
            <a:r>
              <a:rPr lang="en-US" sz="1600" dirty="0" smtClean="0"/>
              <a:t>Class Distribution: ( 2 classes)</a:t>
            </a:r>
          </a:p>
          <a:p>
            <a:r>
              <a:rPr lang="en-US" sz="1600" dirty="0" smtClean="0"/>
              <a:t>    		Class 	  Number of instances</a:t>
            </a:r>
          </a:p>
          <a:p>
            <a:r>
              <a:rPr lang="en-US" sz="1600" dirty="0" smtClean="0"/>
              <a:t>    		</a:t>
            </a:r>
            <a:r>
              <a:rPr lang="en-US" sz="1600" dirty="0" err="1" smtClean="0"/>
              <a:t>ckd</a:t>
            </a:r>
            <a:r>
              <a:rPr lang="en-US" sz="1600" dirty="0" smtClean="0"/>
              <a:t>          	  250</a:t>
            </a:r>
          </a:p>
          <a:p>
            <a:r>
              <a:rPr lang="en-US" sz="1600" dirty="0" smtClean="0"/>
              <a:t>    		</a:t>
            </a:r>
            <a:r>
              <a:rPr lang="en-US" sz="1600" dirty="0" err="1" smtClean="0"/>
              <a:t>notckd</a:t>
            </a:r>
            <a:r>
              <a:rPr lang="en-US" sz="1600" dirty="0" smtClean="0"/>
              <a:t>       	  150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5000" y="895350"/>
            <a:ext cx="5204310" cy="338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Type of machine learning algorithms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1500" dirty="0" smtClean="0"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Font typeface="Wingdings" pitchFamily="2" charset="2"/>
              <a:buChar char="Ø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Supervised Learning.</a:t>
            </a:r>
          </a:p>
          <a:p>
            <a:pPr marL="971550" lvl="1" indent="-514350"/>
            <a:endParaRPr lang="en-US" sz="500" dirty="0" smtClean="0">
              <a:latin typeface="Arial" pitchFamily="34" charset="0"/>
              <a:cs typeface="Arial" pitchFamily="34" charset="0"/>
            </a:endParaRPr>
          </a:p>
          <a:p>
            <a:pPr marL="1257300" lvl="2" indent="-342900">
              <a:buFont typeface="Wingdings" pitchFamily="2" charset="2"/>
              <a:buChar char="ü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SVM (Support Vector Machine).</a:t>
            </a:r>
          </a:p>
          <a:p>
            <a:pPr marL="1257300" lvl="2" indent="-342900">
              <a:buFont typeface="Wingdings" pitchFamily="2" charset="2"/>
              <a:buChar char="ü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Naive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Bayes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1257300" lvl="2" indent="-342900">
              <a:buFont typeface="Wingdings" pitchFamily="2" charset="2"/>
              <a:buChar char="ü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Decision Tree.</a:t>
            </a:r>
          </a:p>
          <a:p>
            <a:pPr marL="1257300" lvl="2" indent="-342900">
              <a:buFont typeface="Wingdings" pitchFamily="2" charset="2"/>
              <a:buChar char="ü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KNN.</a:t>
            </a:r>
          </a:p>
          <a:p>
            <a:pPr marL="1257300" lvl="2" indent="-342900">
              <a:buFont typeface="Wingdings" pitchFamily="2" charset="2"/>
              <a:buChar char="ü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Logistic Regression.</a:t>
            </a:r>
          </a:p>
          <a:p>
            <a:pPr marL="1257300" lvl="2" indent="-342900">
              <a:buFont typeface="Wingdings" pitchFamily="2" charset="2"/>
              <a:buChar char="ü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Random Forest.</a:t>
            </a:r>
          </a:p>
          <a:p>
            <a:pPr marL="1257300" lvl="2" indent="-342900"/>
            <a:endParaRPr lang="en-US" sz="1000" dirty="0" smtClean="0"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Font typeface="Wingdings" pitchFamily="2" charset="2"/>
              <a:buChar char="Ø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Unsupervised Learning.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4400550"/>
            <a:ext cx="74414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Here will discuss about Supervised machine learning algorithms.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-19050"/>
            <a:ext cx="9144000" cy="76944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/>
                </a:solidFill>
              </a:rPr>
              <a:t>ML Algorithms</a:t>
            </a:r>
            <a:endParaRPr lang="en-US" sz="440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9050"/>
            <a:ext cx="9144000" cy="76944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/>
                </a:solidFill>
              </a:rPr>
              <a:t>Discussion</a:t>
            </a:r>
            <a:endParaRPr lang="en-US" sz="4400" dirty="0">
              <a:solidFill>
                <a:schemeClr val="accent6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0" y="971550"/>
            <a:ext cx="1600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smtClean="0"/>
              <a:t>Manual  Approach</a:t>
            </a:r>
            <a:endParaRPr lang="en-US" sz="1400" b="1" dirty="0"/>
          </a:p>
        </p:txBody>
      </p:sp>
      <p:graphicFrame>
        <p:nvGraphicFramePr>
          <p:cNvPr id="6" name="Diagram 5"/>
          <p:cNvGraphicFramePr/>
          <p:nvPr/>
        </p:nvGraphicFramePr>
        <p:xfrm>
          <a:off x="457200" y="1276350"/>
          <a:ext cx="39960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00600" y="1104900"/>
          <a:ext cx="3962400" cy="3718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/>
                <a:gridCol w="1066800"/>
                <a:gridCol w="1219200"/>
              </a:tblGrid>
              <a:tr h="40005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Accuracy Measurements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</a:tr>
              <a:tr h="4000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Classification Models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Proposed Model</a:t>
                      </a:r>
                      <a:endParaRPr lang="en-US" sz="1400" dirty="0"/>
                    </a:p>
                  </a:txBody>
                  <a:tcPr anchor="ctr"/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ML Algorithms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Accuracy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Accuracy</a:t>
                      </a:r>
                    </a:p>
                  </a:txBody>
                  <a:tcPr anchor="ctr"/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 Random Forest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100%</a:t>
                      </a:r>
                      <a:endParaRPr lang="en-US" sz="1400" dirty="0"/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98.75%</a:t>
                      </a:r>
                      <a:endParaRPr lang="en-US" sz="1400" dirty="0"/>
                    </a:p>
                  </a:txBody>
                  <a:tcPr anchor="ctr"/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Logistic Regression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98.75%</a:t>
                      </a:r>
                      <a:endParaRPr lang="en-U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Decision Tree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98.75%</a:t>
                      </a:r>
                      <a:endParaRPr lang="en-U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Naive </a:t>
                      </a:r>
                      <a:r>
                        <a:rPr lang="en-US" sz="1400" dirty="0" err="1" smtClean="0"/>
                        <a:t>Bayes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98.75%</a:t>
                      </a:r>
                      <a:endParaRPr lang="en-U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KNN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97.50%</a:t>
                      </a:r>
                      <a:endParaRPr lang="en-U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SVM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65%</a:t>
                      </a:r>
                      <a:endParaRPr lang="en-U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90600" y="2038350"/>
            <a:ext cx="609600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Arial" pitchFamily="34" charset="0"/>
              <a:buChar char="•"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Sod</a:t>
            </a:r>
          </a:p>
          <a:p>
            <a:pPr lvl="0">
              <a:buFont typeface="Arial" pitchFamily="34" charset="0"/>
              <a:buChar char="•"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Pot</a:t>
            </a:r>
          </a:p>
          <a:p>
            <a:pPr lvl="0">
              <a:buFont typeface="Arial" pitchFamily="34" charset="0"/>
              <a:buChar char="•"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Hemo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Pcv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Wbcc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Rbcc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Htn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Dm</a:t>
            </a:r>
          </a:p>
          <a:p>
            <a:pPr lvl="0">
              <a:buFont typeface="Arial" pitchFamily="34" charset="0"/>
              <a:buChar char="•"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Cad</a:t>
            </a:r>
          </a:p>
          <a:p>
            <a:pPr lvl="0">
              <a:buFont typeface="Arial" pitchFamily="34" charset="0"/>
              <a:buChar char="•"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Appet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Pe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Ane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Class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9050"/>
            <a:ext cx="9144000" cy="76944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</a:rPr>
              <a:t>Performance Analysis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" y="1288018"/>
            <a:ext cx="28341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Statistics Correlation  Matrix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" y="1809750"/>
          <a:ext cx="8778250" cy="280415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51130"/>
                <a:gridCol w="351130"/>
                <a:gridCol w="351130"/>
                <a:gridCol w="351130"/>
                <a:gridCol w="351130"/>
                <a:gridCol w="351130"/>
                <a:gridCol w="351130"/>
                <a:gridCol w="351130"/>
                <a:gridCol w="351130"/>
                <a:gridCol w="351130"/>
                <a:gridCol w="351130"/>
                <a:gridCol w="351130"/>
                <a:gridCol w="351130"/>
                <a:gridCol w="351130"/>
                <a:gridCol w="351130"/>
                <a:gridCol w="351130"/>
                <a:gridCol w="351130"/>
                <a:gridCol w="351130"/>
                <a:gridCol w="351130"/>
                <a:gridCol w="351130"/>
                <a:gridCol w="351130"/>
                <a:gridCol w="351130"/>
                <a:gridCol w="351130"/>
                <a:gridCol w="351130"/>
                <a:gridCol w="351130"/>
              </a:tblGrid>
              <a:tr h="109728">
                <a:tc>
                  <a:txBody>
                    <a:bodyPr/>
                    <a:lstStyle/>
                    <a:p>
                      <a:pPr algn="r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/>
                        <a:t>age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/>
                        <a:t>bp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sg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/>
                        <a:t>al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su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rbc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/>
                        <a:t>pc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/>
                        <a:t>pcc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ba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/>
                        <a:t>bgr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bu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/>
                        <a:t>sc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/>
                        <a:t>sod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/>
                        <a:t>pot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hemo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pcv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wbcc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rbcc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htn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/>
                        <a:t>dm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/>
                        <a:t>cad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appet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pe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ane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/>
                        <a:t>age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1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0.148004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-0.18057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0.114764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0.231691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-0.01178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-0.10195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0.159074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0.043573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0.21441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0.275522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0.240908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-0.05217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0.074722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-0.17538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-0.2118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0.100061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-0.20105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0.39344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0.363475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0.232951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0.157741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0.094434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0.050567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/>
                        <a:t>bp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0.148004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1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-0.18246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0.146593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0.212998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-0.15137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-0.15686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0.05956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0.112173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0.1491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0.167769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0.250758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-0.0747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0.084119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-0.27954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-0.29271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0.026067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-0.22082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0.270447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0.22825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0.086618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0.177601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0.054083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0.194962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sg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-0.18057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-0.18246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-0.4667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-0.3075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0.236228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0.345325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-0.29066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-0.22079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-0.32634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-0.30039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-0.41128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0.104101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-0.01922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0.531755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0.528437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-0.20131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0.466976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-0.36696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-0.39319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-0.1548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-0.24682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-0.27248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-0.21328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/>
                        <a:t>al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0.114764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0.146593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-0.4667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0.305555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-0.37393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-0.53516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0.399749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0.367855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0.3264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0.429562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0.462698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-0.11079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0.112747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-0.5497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-0.52724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0.200443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-0.45489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0.481724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0.378042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0.236745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0.330562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0.440893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0.282305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su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0.231691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0.212998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-0.3075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0.305555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-0.08311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-0.1839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0.171502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0.127363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0.643699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0.188902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0.244857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-0.03146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0.163653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-0.22297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-0.22898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0.173182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-0.20884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0.316193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0.495283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0.284503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0.115781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0.147334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0.090566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/>
                        <a:t>rbc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-0.01178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-0.15137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0.236228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-0.37393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-0.08311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0.377394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-0.10295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-0.1844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-0.15308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-0.20012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-0.25561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0.04577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0.011441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0.28099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0.280958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-0.00221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0.202455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-0.14054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-0.14565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-0.11149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-0.16087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-0.19928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-0.10763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/>
                        <a:t>pc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-0.10195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-0.15686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0.345325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-0.53516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-0.1839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0.377394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-0.52012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-0.3304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-0.26226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-0.33154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-0.31705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0.056359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-0.14046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0.4115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0.41858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-0.10789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0.38324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-0.29172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-0.20103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-0.17229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-0.27498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-0.35023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-0.26057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pcc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0.159074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0.05956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-0.29066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0.399749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0.171502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-0.10295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-0.52012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0.275082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0.197593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0.217795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0.182853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-0.0493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0.006819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-0.27576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-0.29424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0.163456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-0.26798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0.195623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0.165236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0.188029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0.189688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0.104356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0.175861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/>
                        <a:t>ba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0.043573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0.112173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-0.22079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0.367855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0.127363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-0.1844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-0.3304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0.275082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0.08594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0.179307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0.162716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-0.02392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0.025585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-0.20495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-0.18982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0.103546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-0.19222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0.089046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0.08007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0.162395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0.149126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0.134732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0.052208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/>
                        <a:t>bgr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0.21441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0.1491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-0.32634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0.3264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0.643699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-0.15308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-0.26226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0.197593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0.08594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0.177916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0.196472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-0.06387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0.038709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-0.26915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-0.26758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0.121371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-0.22257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0.369849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0.500618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0.212433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0.176132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0.101502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0.126854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/>
                        <a:t>bu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0.275522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0.167769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-0.30039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0.429562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0.188902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-0.20012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-0.33154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0.217795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0.179307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0.177916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0.724497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-0.19702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0.268104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-0.55963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-0.53733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0.069419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-0.4678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0.470188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0.37412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0.24819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0.290611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0.311231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0.411377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/>
                        <a:t>sc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0.240908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0.250758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-0.41128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0.462698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0.244857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-0.25561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-0.31705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0.182853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0.162716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0.196472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0.724497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-0.36041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0.228758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-0.62477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-0.60532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0.075942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-0.52896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0.50288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0.397463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0.258501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0.318686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0.320394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0.427981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/>
                        <a:t>sod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-0.05217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-0.0747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0.104101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-0.11079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-0.03146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0.04577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0.056359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-0.0493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-0.02392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-0.06387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-0.19702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-0.36041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0.02975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0.156064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0.169167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0.031895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0.173038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-0.16686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-0.15431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-0.19591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-0.04882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-0.04459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-0.06778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/>
                        <a:t>pot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0.074722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0.084119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-0.01922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0.112747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0.163653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0.011441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-0.14046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0.006819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0.025585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0.038709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0.268104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0.228758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0.02975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-0.12545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-0.16645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-0.0991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-0.14645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0.085842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0.092952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0.054073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0.004132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0.075173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0.109432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hemo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-0.17538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-0.27954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0.531755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-0.5497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-0.22297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0.28099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0.4115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-0.27576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-0.20495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-0.26915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-0.55963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-0.62477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0.156064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-0.12545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0.854962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-0.15382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0.682257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-0.58077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-0.46806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-0.28046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-0.39114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-0.38277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-0.55581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/>
                        <a:t>pcv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-0.2118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-0.29271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0.528437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-0.52724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-0.22898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0.280958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0.41858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-0.29424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-0.18982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-0.26758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-0.53733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-0.60532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0.169167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-0.16645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0.854962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-0.1834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0.703618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-0.57222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-0.4547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-0.2946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-0.39122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-0.39495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-0.51449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/>
                        <a:t>wbcc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0.100061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0.026067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-0.20131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0.200443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0.173182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-0.00221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-0.10789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0.163456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0.103546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0.121371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0.069419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0.075942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0.031895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-0.0991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-0.15382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-0.1834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-0.15136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0.122173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0.152696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0.00837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0.149332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0.135872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0.036514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/>
                        <a:t>rbcc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-0.20105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-0.22082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0.466976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-0.45489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-0.20884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0.202455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0.38324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-0.26798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-0.19222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-0.22257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-0.4678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-0.52896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0.173038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-0.14645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0.682257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0.703618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-0.15136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-0.52835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-0.42198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-0.29556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-0.39813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-0.33864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-0.39766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/>
                        <a:t>htn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0.39344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0.270447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-0.36696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0.481724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0.316193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-0.14054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-0.29172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0.195623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0.089046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0.369849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0.470188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0.50288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-0.16686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0.085842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-0.58077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-0.57222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0.122173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-0.52835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0.608118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0.325479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0.34507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0.371026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0.347802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/>
                        <a:t>dm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0.363475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0.22825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-0.39319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0.378042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0.495283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-0.14565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-0.20103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0.165236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0.08007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0.500618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0.37412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0.397463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-0.15431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0.092952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-0.46806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-0.4547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0.152696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-0.42198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0.608118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0.271172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0.325134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0.308463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0.183686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/>
                        <a:t>cad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0.232951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0.086618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-0.1548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0.236745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0.284503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-0.11149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-0.17229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0.188029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0.162395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0.212433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0.24819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0.258501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-0.19591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0.054073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-0.28046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-0.2946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0.00837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-0.29556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0.325479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0.271172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0.156104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0.172295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0.0477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appet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0.157741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0.177601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-0.24682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0.330562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0.115781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-0.16087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-0.27498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0.189688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0.149126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0.176132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0.290611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0.318686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-0.04882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0.004132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-0.39114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-0.39122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0.149332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-0.39813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0.34507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0.325134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0.156104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0.417055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0.254942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pe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0.094434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0.054083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-0.27248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0.440893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0.147334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-0.19928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-0.35023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0.104356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0.134732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0.101502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0.311231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0.320394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-0.04459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0.075173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-0.38277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-0.39495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0.135872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-0.33864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0.371026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0.308463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0.172295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0.417055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0.207025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  <a:tr h="109728">
                <a:tc>
                  <a:txBody>
                    <a:bodyPr/>
                    <a:lstStyle/>
                    <a:p>
                      <a:pPr algn="r" fontAlgn="b"/>
                      <a:r>
                        <a:rPr lang="en-US" sz="700" u="none" strike="noStrike" dirty="0" err="1"/>
                        <a:t>ane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0.050567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0.194962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-0.21328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0.282305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0.090566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-0.10763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-0.26057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0.175861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0.052208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0.126854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0.411377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0.427981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-0.06778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0.109432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-0.55581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-0.51449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0.036514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/>
                        <a:t>-0.39766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0.347802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0.183686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0.0477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0.254942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0.207025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/>
                        <a:t>1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5486" marR="5486" marT="5486" marB="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0629" y="1047750"/>
          <a:ext cx="7542742" cy="4101633"/>
        </p:xfrm>
        <a:graphic>
          <a:graphicData uri="http://schemas.openxmlformats.org/drawingml/2006/table">
            <a:tbl>
              <a:tblPr/>
              <a:tblGrid>
                <a:gridCol w="828193"/>
                <a:gridCol w="814616"/>
                <a:gridCol w="1028830"/>
                <a:gridCol w="953402"/>
                <a:gridCol w="692424"/>
                <a:gridCol w="954912"/>
                <a:gridCol w="954912"/>
                <a:gridCol w="706911"/>
                <a:gridCol w="608542"/>
              </a:tblGrid>
              <a:tr h="153509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9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count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mean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std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Min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Percentiles</a:t>
                      </a:r>
                      <a:endParaRPr lang="en-US" sz="9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max</a:t>
                      </a:r>
                      <a:endParaRPr lang="en-US" sz="9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2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25%</a:t>
                      </a:r>
                      <a:endParaRPr lang="en-US" sz="9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50%</a:t>
                      </a:r>
                      <a:endParaRPr lang="en-US" sz="9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75%</a:t>
                      </a:r>
                      <a:endParaRPr lang="en-US" sz="9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Age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5.06E-16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1.0012523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-2.9187302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-0.559368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0.1484407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0.7382812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2.2718667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Bp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7.82E-16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1.0012523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-1.9665802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-0.4806345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0.1311692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0.2623384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7.692067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Sg</a:t>
                      </a:r>
                      <a:endParaRPr lang="en-US" sz="9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2.27E-15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1.0012523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-2.3137635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-0.449018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0.4833547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1.4157275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Al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7.11E-17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1.0012523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-0.8002896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-0.8002896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-0.0133382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0.7736133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3.1344675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Su</a:t>
                      </a:r>
                      <a:endParaRPr lang="en-US" sz="9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-5.33E-17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1.0012523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-0.4676735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-0.4676735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-0.4676735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-6.12E-17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3.4807145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err="1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Rbc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0.8825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0.3224184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Pc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0.81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0.3927922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err="1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Pcc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0.105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0.3069373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err="1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Ba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0.055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0.2282658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err="1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Bgr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-1.60E-16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1.0012523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-1.6874821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-0.6297642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-0.2950433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0.0262888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4.5784926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Bu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-2.66E-16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1.0012523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-4.357243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-0.7238883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-0.0103388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0.4893933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3.2450576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Sc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1.0012523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-1.1749712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-0.6990911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-0.3350462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0.3498807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5.0697065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Sod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-1.64E-15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1.0012523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-19.166288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-0.0583361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0.1988197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1.0567927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Pot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-1.69E-16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1.0012523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-2.247413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-0.398818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1.15E-15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0.3704217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11.323576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err="1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Hemo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1.0012523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-3.4748333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-0.6087632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0.7735858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1.9439745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err="1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Pcv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1.78E-16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1.0012523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-3.6709147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-0.5999959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0.6283716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1.8567391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err="1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Wbcc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1.24E-16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1.0012523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-2.4626845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-0.5678913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0.3943858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7.1402463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err="1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Rbcc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-2.84E-16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1.0012523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-3.1068141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-0.2471631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-1.06E-15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0.4677496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3.9231612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err="1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Htn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0.3675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0.482728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Dm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0.3425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0.4751401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Cad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0.085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0.279231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err="1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Appet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0.205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0.4042072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err="1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Pe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0.3927922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5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err="1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Ane</a:t>
                      </a:r>
                      <a:endParaRPr lang="en-US" sz="9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400</a:t>
                      </a:r>
                      <a:endParaRPr lang="en-US" sz="9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84856" marR="8485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0.3575186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0"/>
            <a:ext cx="9144000" cy="76944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</a:rPr>
              <a:t>Performance Analysis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0" y="770751"/>
            <a:ext cx="1295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/>
              <a:t>Analyze The Data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9050"/>
            <a:ext cx="9144000" cy="76944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 smtClean="0">
                <a:solidFill>
                  <a:schemeClr val="bg1"/>
                </a:solidFill>
              </a:rPr>
              <a:t>Performance Analysis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748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6" name="Picture 22" descr="1 age.pn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0" y="3028950"/>
            <a:ext cx="1511300" cy="1133475"/>
          </a:xfrm>
          <a:prstGeom prst="rect">
            <a:avLst/>
          </a:prstGeom>
          <a:noFill/>
        </p:spPr>
      </p:pic>
      <p:pic>
        <p:nvPicPr>
          <p:cNvPr id="57" name="Picture 21" descr="1 age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514814" y="3028950"/>
            <a:ext cx="1524000" cy="1143000"/>
          </a:xfrm>
          <a:prstGeom prst="rect">
            <a:avLst/>
          </a:prstGeom>
          <a:noFill/>
        </p:spPr>
      </p:pic>
      <p:pic>
        <p:nvPicPr>
          <p:cNvPr id="58" name="Picture 20" descr="1 age.png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3042328" y="3028950"/>
            <a:ext cx="1524000" cy="1143000"/>
          </a:xfrm>
          <a:prstGeom prst="rect">
            <a:avLst/>
          </a:prstGeom>
          <a:noFill/>
        </p:spPr>
      </p:pic>
      <p:pic>
        <p:nvPicPr>
          <p:cNvPr id="59" name="Picture 9" descr="1 age.png"/>
          <p:cNvPicPr>
            <a:picLocks noChangeAspect="1" noChangeArrowheads="1"/>
          </p:cNvPicPr>
          <p:nvPr/>
        </p:nvPicPr>
        <p:blipFill>
          <a:blip r:embed="rId5" cstate="print"/>
          <a:stretch>
            <a:fillRect/>
          </a:stretch>
        </p:blipFill>
        <p:spPr bwMode="auto">
          <a:xfrm>
            <a:off x="4569842" y="3028950"/>
            <a:ext cx="1524000" cy="1143000"/>
          </a:xfrm>
          <a:prstGeom prst="rect">
            <a:avLst/>
          </a:prstGeom>
          <a:noFill/>
        </p:spPr>
      </p:pic>
      <p:pic>
        <p:nvPicPr>
          <p:cNvPr id="60" name="Picture 59" descr="1 age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97356" y="3028950"/>
            <a:ext cx="1521564" cy="1141173"/>
          </a:xfrm>
          <a:prstGeom prst="rect">
            <a:avLst/>
          </a:prstGeom>
        </p:spPr>
      </p:pic>
      <p:pic>
        <p:nvPicPr>
          <p:cNvPr id="61" name="Picture 60" descr="1 age.pn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22436" y="3028950"/>
            <a:ext cx="1521564" cy="1141173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04800" y="285750"/>
            <a:ext cx="245214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Histogram of All Attributes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23" name="Picture 22" descr="1 age.png"/>
          <p:cNvPicPr>
            <a:picLocks noChangeAspect="1" noChangeArrowheads="1"/>
          </p:cNvPicPr>
          <p:nvPr/>
        </p:nvPicPr>
        <p:blipFill>
          <a:blip r:embed="rId8" cstate="print"/>
          <a:stretch>
            <a:fillRect/>
          </a:stretch>
        </p:blipFill>
        <p:spPr bwMode="auto">
          <a:xfrm>
            <a:off x="0" y="742950"/>
            <a:ext cx="1511300" cy="1133475"/>
          </a:xfrm>
          <a:prstGeom prst="rect">
            <a:avLst/>
          </a:prstGeom>
          <a:noFill/>
        </p:spPr>
      </p:pic>
      <p:pic>
        <p:nvPicPr>
          <p:cNvPr id="24" name="Picture 21" descr="1 age.png"/>
          <p:cNvPicPr>
            <a:picLocks noChangeAspect="1" noChangeArrowheads="1"/>
          </p:cNvPicPr>
          <p:nvPr/>
        </p:nvPicPr>
        <p:blipFill>
          <a:blip r:embed="rId9" cstate="print"/>
          <a:stretch>
            <a:fillRect/>
          </a:stretch>
        </p:blipFill>
        <p:spPr bwMode="auto">
          <a:xfrm>
            <a:off x="1514814" y="742950"/>
            <a:ext cx="1524000" cy="1143000"/>
          </a:xfrm>
          <a:prstGeom prst="rect">
            <a:avLst/>
          </a:prstGeom>
          <a:noFill/>
        </p:spPr>
      </p:pic>
      <p:pic>
        <p:nvPicPr>
          <p:cNvPr id="25" name="Picture 20" descr="1 age.png"/>
          <p:cNvPicPr>
            <a:picLocks noChangeAspect="1" noChangeArrowheads="1"/>
          </p:cNvPicPr>
          <p:nvPr/>
        </p:nvPicPr>
        <p:blipFill>
          <a:blip r:embed="rId10" cstate="print"/>
          <a:stretch>
            <a:fillRect/>
          </a:stretch>
        </p:blipFill>
        <p:spPr bwMode="auto">
          <a:xfrm>
            <a:off x="3042328" y="742950"/>
            <a:ext cx="1524000" cy="1143000"/>
          </a:xfrm>
          <a:prstGeom prst="rect">
            <a:avLst/>
          </a:prstGeom>
          <a:noFill/>
        </p:spPr>
      </p:pic>
      <p:pic>
        <p:nvPicPr>
          <p:cNvPr id="26" name="Picture 9" descr="1 age.png"/>
          <p:cNvPicPr>
            <a:picLocks noChangeAspect="1" noChangeArrowheads="1"/>
          </p:cNvPicPr>
          <p:nvPr/>
        </p:nvPicPr>
        <p:blipFill>
          <a:blip r:embed="rId11" cstate="print"/>
          <a:stretch>
            <a:fillRect/>
          </a:stretch>
        </p:blipFill>
        <p:spPr bwMode="auto">
          <a:xfrm>
            <a:off x="4569842" y="742950"/>
            <a:ext cx="1524000" cy="1143000"/>
          </a:xfrm>
          <a:prstGeom prst="rect">
            <a:avLst/>
          </a:prstGeom>
          <a:noFill/>
        </p:spPr>
      </p:pic>
      <p:pic>
        <p:nvPicPr>
          <p:cNvPr id="27" name="Picture 26" descr="1 age.png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97356" y="742950"/>
            <a:ext cx="1521564" cy="1141173"/>
          </a:xfrm>
          <a:prstGeom prst="rect">
            <a:avLst/>
          </a:prstGeom>
        </p:spPr>
      </p:pic>
      <p:pic>
        <p:nvPicPr>
          <p:cNvPr id="28" name="Picture 27" descr="1 age.png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622436" y="742950"/>
            <a:ext cx="1521564" cy="1141173"/>
          </a:xfrm>
          <a:prstGeom prst="rect">
            <a:avLst/>
          </a:prstGeom>
        </p:spPr>
      </p:pic>
      <p:pic>
        <p:nvPicPr>
          <p:cNvPr id="29" name="Picture 28" descr="1 age.png"/>
          <p:cNvPicPr>
            <a:picLocks noChangeAspect="1" noChangeArrowheads="1"/>
          </p:cNvPicPr>
          <p:nvPr/>
        </p:nvPicPr>
        <p:blipFill>
          <a:blip r:embed="rId14" cstate="print"/>
          <a:stretch>
            <a:fillRect/>
          </a:stretch>
        </p:blipFill>
        <p:spPr bwMode="auto">
          <a:xfrm>
            <a:off x="0" y="1885950"/>
            <a:ext cx="1511300" cy="1133475"/>
          </a:xfrm>
          <a:prstGeom prst="rect">
            <a:avLst/>
          </a:prstGeom>
          <a:noFill/>
        </p:spPr>
      </p:pic>
      <p:pic>
        <p:nvPicPr>
          <p:cNvPr id="30" name="Picture 21" descr="1 age.png"/>
          <p:cNvPicPr>
            <a:picLocks noChangeAspect="1" noChangeArrowheads="1"/>
          </p:cNvPicPr>
          <p:nvPr/>
        </p:nvPicPr>
        <p:blipFill>
          <a:blip r:embed="rId15" cstate="print"/>
          <a:stretch>
            <a:fillRect/>
          </a:stretch>
        </p:blipFill>
        <p:spPr bwMode="auto">
          <a:xfrm>
            <a:off x="1514814" y="1885950"/>
            <a:ext cx="1524000" cy="1143000"/>
          </a:xfrm>
          <a:prstGeom prst="rect">
            <a:avLst/>
          </a:prstGeom>
          <a:noFill/>
        </p:spPr>
      </p:pic>
      <p:pic>
        <p:nvPicPr>
          <p:cNvPr id="31" name="Picture 20" descr="1 age.png"/>
          <p:cNvPicPr>
            <a:picLocks noChangeAspect="1" noChangeArrowheads="1"/>
          </p:cNvPicPr>
          <p:nvPr/>
        </p:nvPicPr>
        <p:blipFill>
          <a:blip r:embed="rId16" cstate="print"/>
          <a:stretch>
            <a:fillRect/>
          </a:stretch>
        </p:blipFill>
        <p:spPr bwMode="auto">
          <a:xfrm>
            <a:off x="3042328" y="1885950"/>
            <a:ext cx="1524000" cy="1143000"/>
          </a:xfrm>
          <a:prstGeom prst="rect">
            <a:avLst/>
          </a:prstGeom>
          <a:noFill/>
        </p:spPr>
      </p:pic>
      <p:pic>
        <p:nvPicPr>
          <p:cNvPr id="32" name="Picture 9" descr="1 age.png"/>
          <p:cNvPicPr>
            <a:picLocks noChangeAspect="1" noChangeArrowheads="1"/>
          </p:cNvPicPr>
          <p:nvPr/>
        </p:nvPicPr>
        <p:blipFill>
          <a:blip r:embed="rId17" cstate="print"/>
          <a:stretch>
            <a:fillRect/>
          </a:stretch>
        </p:blipFill>
        <p:spPr bwMode="auto">
          <a:xfrm>
            <a:off x="4569842" y="1885950"/>
            <a:ext cx="1524000" cy="1143000"/>
          </a:xfrm>
          <a:prstGeom prst="rect">
            <a:avLst/>
          </a:prstGeom>
          <a:noFill/>
        </p:spPr>
      </p:pic>
      <p:pic>
        <p:nvPicPr>
          <p:cNvPr id="33" name="Picture 32" descr="1 age.png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097356" y="1885950"/>
            <a:ext cx="1521564" cy="1141173"/>
          </a:xfrm>
          <a:prstGeom prst="rect">
            <a:avLst/>
          </a:prstGeom>
        </p:spPr>
      </p:pic>
      <p:pic>
        <p:nvPicPr>
          <p:cNvPr id="34" name="Picture 33" descr="1 age.png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622436" y="1885950"/>
            <a:ext cx="1521564" cy="1141173"/>
          </a:xfrm>
          <a:prstGeom prst="rect">
            <a:avLst/>
          </a:prstGeom>
        </p:spPr>
      </p:pic>
      <p:pic>
        <p:nvPicPr>
          <p:cNvPr id="36" name="Picture 22" descr="1 age.png"/>
          <p:cNvPicPr>
            <a:picLocks noChangeAspect="1" noChangeArrowheads="1"/>
          </p:cNvPicPr>
          <p:nvPr/>
        </p:nvPicPr>
        <p:blipFill>
          <a:blip r:embed="rId20" cstate="print"/>
          <a:stretch>
            <a:fillRect/>
          </a:stretch>
        </p:blipFill>
        <p:spPr bwMode="auto">
          <a:xfrm>
            <a:off x="0" y="4010025"/>
            <a:ext cx="1511300" cy="1133475"/>
          </a:xfrm>
          <a:prstGeom prst="rect">
            <a:avLst/>
          </a:prstGeom>
          <a:noFill/>
        </p:spPr>
      </p:pic>
      <p:pic>
        <p:nvPicPr>
          <p:cNvPr id="37" name="Picture 21" descr="1 age.png"/>
          <p:cNvPicPr>
            <a:picLocks noChangeAspect="1" noChangeArrowheads="1"/>
          </p:cNvPicPr>
          <p:nvPr/>
        </p:nvPicPr>
        <p:blipFill>
          <a:blip r:embed="rId21" cstate="print"/>
          <a:stretch>
            <a:fillRect/>
          </a:stretch>
        </p:blipFill>
        <p:spPr bwMode="auto">
          <a:xfrm>
            <a:off x="1514814" y="4010025"/>
            <a:ext cx="1524000" cy="1143000"/>
          </a:xfrm>
          <a:prstGeom prst="rect">
            <a:avLst/>
          </a:prstGeom>
          <a:noFill/>
        </p:spPr>
      </p:pic>
      <p:pic>
        <p:nvPicPr>
          <p:cNvPr id="38" name="Picture 20" descr="1 age.png"/>
          <p:cNvPicPr>
            <a:picLocks noChangeAspect="1" noChangeArrowheads="1"/>
          </p:cNvPicPr>
          <p:nvPr/>
        </p:nvPicPr>
        <p:blipFill>
          <a:blip r:embed="rId22" cstate="print"/>
          <a:stretch>
            <a:fillRect/>
          </a:stretch>
        </p:blipFill>
        <p:spPr bwMode="auto">
          <a:xfrm>
            <a:off x="3042328" y="4010025"/>
            <a:ext cx="1524000" cy="1143000"/>
          </a:xfrm>
          <a:prstGeom prst="rect">
            <a:avLst/>
          </a:prstGeom>
          <a:noFill/>
        </p:spPr>
      </p:pic>
      <p:pic>
        <p:nvPicPr>
          <p:cNvPr id="39" name="Picture 9" descr="1 age.png"/>
          <p:cNvPicPr>
            <a:picLocks noChangeAspect="1" noChangeArrowheads="1"/>
          </p:cNvPicPr>
          <p:nvPr/>
        </p:nvPicPr>
        <p:blipFill>
          <a:blip r:embed="rId23" cstate="print"/>
          <a:stretch>
            <a:fillRect/>
          </a:stretch>
        </p:blipFill>
        <p:spPr bwMode="auto">
          <a:xfrm>
            <a:off x="4569842" y="4010025"/>
            <a:ext cx="1524000" cy="1143000"/>
          </a:xfrm>
          <a:prstGeom prst="rect">
            <a:avLst/>
          </a:prstGeom>
          <a:noFill/>
        </p:spPr>
      </p:pic>
      <p:pic>
        <p:nvPicPr>
          <p:cNvPr id="40" name="Picture 39" descr="1 age.png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097356" y="4010025"/>
            <a:ext cx="1521564" cy="1141173"/>
          </a:xfrm>
          <a:prstGeom prst="rect">
            <a:avLst/>
          </a:prstGeom>
        </p:spPr>
      </p:pic>
      <p:pic>
        <p:nvPicPr>
          <p:cNvPr id="41" name="Picture 40" descr="1 age.png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622436" y="4010025"/>
            <a:ext cx="1521564" cy="1141173"/>
          </a:xfrm>
          <a:prstGeom prst="rect">
            <a:avLst/>
          </a:prstGeom>
        </p:spPr>
      </p:pic>
      <p:pic>
        <p:nvPicPr>
          <p:cNvPr id="42" name="Picture 41" descr="Figure_1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724430"/>
            <a:ext cx="9144000" cy="4438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9050"/>
            <a:ext cx="9144000" cy="76944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 smtClean="0">
                <a:solidFill>
                  <a:schemeClr val="bg1"/>
                </a:solidFill>
              </a:rPr>
              <a:t>Performance Analysis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748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04800" y="285750"/>
            <a:ext cx="28519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 smtClean="0">
                <a:solidFill>
                  <a:schemeClr val="bg1"/>
                </a:solidFill>
              </a:rPr>
              <a:t>Heatmap</a:t>
            </a:r>
            <a:r>
              <a:rPr lang="en-US" sz="1600" b="1" dirty="0" smtClean="0">
                <a:solidFill>
                  <a:schemeClr val="bg1"/>
                </a:solidFill>
              </a:rPr>
              <a:t> and Confusion Matrix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35" name="Picture 34" descr="Confusion Matrix.png"/>
          <p:cNvPicPr>
            <a:picLocks noChangeAspect="1"/>
          </p:cNvPicPr>
          <p:nvPr/>
        </p:nvPicPr>
        <p:blipFill>
          <a:blip r:embed="rId2"/>
          <a:srcRect l="4444" t="7037" r="7778" b="2593"/>
          <a:stretch>
            <a:fillRect/>
          </a:stretch>
        </p:blipFill>
        <p:spPr>
          <a:xfrm>
            <a:off x="4648200" y="1177804"/>
            <a:ext cx="4173747" cy="3222746"/>
          </a:xfrm>
          <a:prstGeom prst="rect">
            <a:avLst/>
          </a:prstGeom>
        </p:spPr>
      </p:pic>
      <p:pic>
        <p:nvPicPr>
          <p:cNvPr id="43" name="Picture 42" descr="Heatmap.png"/>
          <p:cNvPicPr>
            <a:picLocks noChangeAspect="1"/>
          </p:cNvPicPr>
          <p:nvPr/>
        </p:nvPicPr>
        <p:blipFill>
          <a:blip r:embed="rId3"/>
          <a:srcRect l="7072" t="8388" r="6990"/>
          <a:stretch>
            <a:fillRect/>
          </a:stretch>
        </p:blipFill>
        <p:spPr>
          <a:xfrm>
            <a:off x="609598" y="1352548"/>
            <a:ext cx="3922807" cy="31363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9050"/>
            <a:ext cx="9144000" cy="76944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 smtClean="0">
                <a:solidFill>
                  <a:schemeClr val="bg1"/>
                </a:solidFill>
              </a:rPr>
              <a:t>Performance Analysis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748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6" name="Picture 22" descr="1 age.pn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0" y="742950"/>
            <a:ext cx="1511300" cy="1133475"/>
          </a:xfrm>
          <a:prstGeom prst="rect">
            <a:avLst/>
          </a:prstGeom>
          <a:noFill/>
        </p:spPr>
      </p:pic>
      <p:pic>
        <p:nvPicPr>
          <p:cNvPr id="57" name="Picture 21" descr="1 age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514814" y="742950"/>
            <a:ext cx="1524000" cy="1143000"/>
          </a:xfrm>
          <a:prstGeom prst="rect">
            <a:avLst/>
          </a:prstGeom>
          <a:noFill/>
        </p:spPr>
      </p:pic>
      <p:pic>
        <p:nvPicPr>
          <p:cNvPr id="58" name="Picture 20" descr="1 age.png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3042328" y="742950"/>
            <a:ext cx="1524000" cy="1143000"/>
          </a:xfrm>
          <a:prstGeom prst="rect">
            <a:avLst/>
          </a:prstGeom>
          <a:noFill/>
        </p:spPr>
      </p:pic>
      <p:pic>
        <p:nvPicPr>
          <p:cNvPr id="59" name="Picture 9" descr="1 age.png"/>
          <p:cNvPicPr>
            <a:picLocks noChangeAspect="1" noChangeArrowheads="1"/>
          </p:cNvPicPr>
          <p:nvPr/>
        </p:nvPicPr>
        <p:blipFill>
          <a:blip r:embed="rId5" cstate="print"/>
          <a:stretch>
            <a:fillRect/>
          </a:stretch>
        </p:blipFill>
        <p:spPr bwMode="auto">
          <a:xfrm>
            <a:off x="4569842" y="742950"/>
            <a:ext cx="1524000" cy="1143000"/>
          </a:xfrm>
          <a:prstGeom prst="rect">
            <a:avLst/>
          </a:prstGeom>
          <a:noFill/>
        </p:spPr>
      </p:pic>
      <p:pic>
        <p:nvPicPr>
          <p:cNvPr id="60" name="Picture 59" descr="1 age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97356" y="742950"/>
            <a:ext cx="1521564" cy="1141173"/>
          </a:xfrm>
          <a:prstGeom prst="rect">
            <a:avLst/>
          </a:prstGeom>
        </p:spPr>
      </p:pic>
      <p:pic>
        <p:nvPicPr>
          <p:cNvPr id="61" name="Picture 60" descr="1 age.pn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22436" y="742950"/>
            <a:ext cx="1521564" cy="1141173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228600" y="361950"/>
            <a:ext cx="36090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Standard Normal Distribution of All Attributes</a:t>
            </a:r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22" name="Picture 22" descr="1 age.png"/>
          <p:cNvPicPr>
            <a:picLocks noChangeAspect="1" noChangeArrowheads="1"/>
          </p:cNvPicPr>
          <p:nvPr/>
        </p:nvPicPr>
        <p:blipFill>
          <a:blip r:embed="rId8" cstate="print"/>
          <a:stretch>
            <a:fillRect/>
          </a:stretch>
        </p:blipFill>
        <p:spPr bwMode="auto">
          <a:xfrm>
            <a:off x="0" y="4000500"/>
            <a:ext cx="1511300" cy="1133475"/>
          </a:xfrm>
          <a:prstGeom prst="rect">
            <a:avLst/>
          </a:prstGeom>
          <a:noFill/>
        </p:spPr>
      </p:pic>
      <p:pic>
        <p:nvPicPr>
          <p:cNvPr id="23" name="Picture 21" descr="1 age.png"/>
          <p:cNvPicPr>
            <a:picLocks noChangeAspect="1" noChangeArrowheads="1"/>
          </p:cNvPicPr>
          <p:nvPr/>
        </p:nvPicPr>
        <p:blipFill>
          <a:blip r:embed="rId9" cstate="print"/>
          <a:stretch>
            <a:fillRect/>
          </a:stretch>
        </p:blipFill>
        <p:spPr bwMode="auto">
          <a:xfrm>
            <a:off x="1514814" y="4000500"/>
            <a:ext cx="1524000" cy="1143000"/>
          </a:xfrm>
          <a:prstGeom prst="rect">
            <a:avLst/>
          </a:prstGeom>
          <a:noFill/>
        </p:spPr>
      </p:pic>
      <p:pic>
        <p:nvPicPr>
          <p:cNvPr id="24" name="Picture 20" descr="1 age.png"/>
          <p:cNvPicPr>
            <a:picLocks noChangeAspect="1" noChangeArrowheads="1"/>
          </p:cNvPicPr>
          <p:nvPr/>
        </p:nvPicPr>
        <p:blipFill>
          <a:blip r:embed="rId10" cstate="print"/>
          <a:stretch>
            <a:fillRect/>
          </a:stretch>
        </p:blipFill>
        <p:spPr bwMode="auto">
          <a:xfrm>
            <a:off x="3042328" y="4000500"/>
            <a:ext cx="1524000" cy="1143000"/>
          </a:xfrm>
          <a:prstGeom prst="rect">
            <a:avLst/>
          </a:prstGeom>
          <a:noFill/>
        </p:spPr>
      </p:pic>
      <p:pic>
        <p:nvPicPr>
          <p:cNvPr id="25" name="Picture 9" descr="1 age.png"/>
          <p:cNvPicPr>
            <a:picLocks noChangeAspect="1" noChangeArrowheads="1"/>
          </p:cNvPicPr>
          <p:nvPr/>
        </p:nvPicPr>
        <p:blipFill>
          <a:blip r:embed="rId11" cstate="print"/>
          <a:stretch>
            <a:fillRect/>
          </a:stretch>
        </p:blipFill>
        <p:spPr bwMode="auto">
          <a:xfrm>
            <a:off x="4569842" y="4000500"/>
            <a:ext cx="1524000" cy="1143000"/>
          </a:xfrm>
          <a:prstGeom prst="rect">
            <a:avLst/>
          </a:prstGeom>
          <a:noFill/>
        </p:spPr>
      </p:pic>
      <p:pic>
        <p:nvPicPr>
          <p:cNvPr id="26" name="Picture 25" descr="1 age.png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97356" y="4000500"/>
            <a:ext cx="1521564" cy="1141173"/>
          </a:xfrm>
          <a:prstGeom prst="rect">
            <a:avLst/>
          </a:prstGeom>
        </p:spPr>
      </p:pic>
      <p:pic>
        <p:nvPicPr>
          <p:cNvPr id="27" name="Picture 26" descr="1 age.png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622436" y="4000500"/>
            <a:ext cx="1521564" cy="1141173"/>
          </a:xfrm>
          <a:prstGeom prst="rect">
            <a:avLst/>
          </a:prstGeom>
        </p:spPr>
      </p:pic>
      <p:pic>
        <p:nvPicPr>
          <p:cNvPr id="28" name="Picture 22" descr="1 age.png"/>
          <p:cNvPicPr>
            <a:picLocks noChangeAspect="1" noChangeArrowheads="1"/>
          </p:cNvPicPr>
          <p:nvPr/>
        </p:nvPicPr>
        <p:blipFill>
          <a:blip r:embed="rId14" cstate="print"/>
          <a:stretch>
            <a:fillRect/>
          </a:stretch>
        </p:blipFill>
        <p:spPr bwMode="auto">
          <a:xfrm>
            <a:off x="0" y="1809750"/>
            <a:ext cx="1511300" cy="1133475"/>
          </a:xfrm>
          <a:prstGeom prst="rect">
            <a:avLst/>
          </a:prstGeom>
          <a:noFill/>
        </p:spPr>
      </p:pic>
      <p:pic>
        <p:nvPicPr>
          <p:cNvPr id="29" name="Picture 21" descr="1 age.png"/>
          <p:cNvPicPr>
            <a:picLocks noChangeAspect="1" noChangeArrowheads="1"/>
          </p:cNvPicPr>
          <p:nvPr/>
        </p:nvPicPr>
        <p:blipFill>
          <a:blip r:embed="rId15" cstate="print"/>
          <a:stretch>
            <a:fillRect/>
          </a:stretch>
        </p:blipFill>
        <p:spPr bwMode="auto">
          <a:xfrm>
            <a:off x="1514814" y="1809750"/>
            <a:ext cx="1524000" cy="1143000"/>
          </a:xfrm>
          <a:prstGeom prst="rect">
            <a:avLst/>
          </a:prstGeom>
          <a:noFill/>
        </p:spPr>
      </p:pic>
      <p:pic>
        <p:nvPicPr>
          <p:cNvPr id="30" name="Picture 20" descr="1 age.png"/>
          <p:cNvPicPr>
            <a:picLocks noChangeAspect="1" noChangeArrowheads="1"/>
          </p:cNvPicPr>
          <p:nvPr/>
        </p:nvPicPr>
        <p:blipFill>
          <a:blip r:embed="rId16" cstate="print"/>
          <a:stretch>
            <a:fillRect/>
          </a:stretch>
        </p:blipFill>
        <p:spPr bwMode="auto">
          <a:xfrm>
            <a:off x="3042328" y="1809750"/>
            <a:ext cx="1524000" cy="1143000"/>
          </a:xfrm>
          <a:prstGeom prst="rect">
            <a:avLst/>
          </a:prstGeom>
          <a:noFill/>
        </p:spPr>
      </p:pic>
      <p:pic>
        <p:nvPicPr>
          <p:cNvPr id="31" name="Picture 9" descr="1 age.png"/>
          <p:cNvPicPr>
            <a:picLocks noChangeAspect="1" noChangeArrowheads="1"/>
          </p:cNvPicPr>
          <p:nvPr/>
        </p:nvPicPr>
        <p:blipFill>
          <a:blip r:embed="rId17" cstate="print"/>
          <a:stretch>
            <a:fillRect/>
          </a:stretch>
        </p:blipFill>
        <p:spPr bwMode="auto">
          <a:xfrm>
            <a:off x="4569842" y="1809750"/>
            <a:ext cx="1524000" cy="1143000"/>
          </a:xfrm>
          <a:prstGeom prst="rect">
            <a:avLst/>
          </a:prstGeom>
          <a:noFill/>
        </p:spPr>
      </p:pic>
      <p:pic>
        <p:nvPicPr>
          <p:cNvPr id="32" name="Picture 31" descr="1 age.png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097356" y="1809750"/>
            <a:ext cx="1521564" cy="1141173"/>
          </a:xfrm>
          <a:prstGeom prst="rect">
            <a:avLst/>
          </a:prstGeom>
        </p:spPr>
      </p:pic>
      <p:pic>
        <p:nvPicPr>
          <p:cNvPr id="33" name="Picture 32" descr="1 age.png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622436" y="1809750"/>
            <a:ext cx="1521564" cy="1141173"/>
          </a:xfrm>
          <a:prstGeom prst="rect">
            <a:avLst/>
          </a:prstGeom>
        </p:spPr>
      </p:pic>
      <p:pic>
        <p:nvPicPr>
          <p:cNvPr id="34" name="Picture 22" descr="1 age.png"/>
          <p:cNvPicPr>
            <a:picLocks noChangeAspect="1" noChangeArrowheads="1"/>
          </p:cNvPicPr>
          <p:nvPr/>
        </p:nvPicPr>
        <p:blipFill>
          <a:blip r:embed="rId20" cstate="print"/>
          <a:stretch>
            <a:fillRect/>
          </a:stretch>
        </p:blipFill>
        <p:spPr bwMode="auto">
          <a:xfrm>
            <a:off x="0" y="2952750"/>
            <a:ext cx="1511300" cy="1133475"/>
          </a:xfrm>
          <a:prstGeom prst="rect">
            <a:avLst/>
          </a:prstGeom>
          <a:noFill/>
        </p:spPr>
      </p:pic>
      <p:pic>
        <p:nvPicPr>
          <p:cNvPr id="35" name="Picture 21" descr="1 age.png"/>
          <p:cNvPicPr>
            <a:picLocks noChangeAspect="1" noChangeArrowheads="1"/>
          </p:cNvPicPr>
          <p:nvPr/>
        </p:nvPicPr>
        <p:blipFill>
          <a:blip r:embed="rId21" cstate="print"/>
          <a:stretch>
            <a:fillRect/>
          </a:stretch>
        </p:blipFill>
        <p:spPr bwMode="auto">
          <a:xfrm>
            <a:off x="1514814" y="2952750"/>
            <a:ext cx="1524000" cy="1143000"/>
          </a:xfrm>
          <a:prstGeom prst="rect">
            <a:avLst/>
          </a:prstGeom>
          <a:noFill/>
        </p:spPr>
      </p:pic>
      <p:pic>
        <p:nvPicPr>
          <p:cNvPr id="36" name="Picture 20" descr="1 age.png"/>
          <p:cNvPicPr>
            <a:picLocks noChangeAspect="1" noChangeArrowheads="1"/>
          </p:cNvPicPr>
          <p:nvPr/>
        </p:nvPicPr>
        <p:blipFill>
          <a:blip r:embed="rId22" cstate="print"/>
          <a:stretch>
            <a:fillRect/>
          </a:stretch>
        </p:blipFill>
        <p:spPr bwMode="auto">
          <a:xfrm>
            <a:off x="3042328" y="2952750"/>
            <a:ext cx="1524000" cy="1143000"/>
          </a:xfrm>
          <a:prstGeom prst="rect">
            <a:avLst/>
          </a:prstGeom>
          <a:noFill/>
        </p:spPr>
      </p:pic>
      <p:pic>
        <p:nvPicPr>
          <p:cNvPr id="37" name="Picture 9" descr="1 age.png"/>
          <p:cNvPicPr>
            <a:picLocks noChangeAspect="1" noChangeArrowheads="1"/>
          </p:cNvPicPr>
          <p:nvPr/>
        </p:nvPicPr>
        <p:blipFill>
          <a:blip r:embed="rId23" cstate="print"/>
          <a:stretch>
            <a:fillRect/>
          </a:stretch>
        </p:blipFill>
        <p:spPr bwMode="auto">
          <a:xfrm>
            <a:off x="4569842" y="2952750"/>
            <a:ext cx="1524000" cy="1143000"/>
          </a:xfrm>
          <a:prstGeom prst="rect">
            <a:avLst/>
          </a:prstGeom>
          <a:noFill/>
        </p:spPr>
      </p:pic>
      <p:pic>
        <p:nvPicPr>
          <p:cNvPr id="38" name="Picture 37" descr="1 age.png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097356" y="2952750"/>
            <a:ext cx="1521564" cy="1141173"/>
          </a:xfrm>
          <a:prstGeom prst="rect">
            <a:avLst/>
          </a:prstGeom>
        </p:spPr>
      </p:pic>
      <p:pic>
        <p:nvPicPr>
          <p:cNvPr id="39" name="Picture 38" descr="1 age.png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622436" y="2952750"/>
            <a:ext cx="1521564" cy="1141173"/>
          </a:xfrm>
          <a:prstGeom prst="rect">
            <a:avLst/>
          </a:prstGeom>
        </p:spPr>
      </p:pic>
      <p:pic>
        <p:nvPicPr>
          <p:cNvPr id="40" name="Picture 39" descr="Figure_2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724430"/>
            <a:ext cx="9144000" cy="4438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-19050"/>
            <a:ext cx="9144000" cy="76944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</a:rPr>
              <a:t>Data Set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645" y="1176339"/>
            <a:ext cx="9050710" cy="3376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82382" y="3943350"/>
            <a:ext cx="797923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Best Accuracy Result is </a:t>
            </a:r>
            <a:r>
              <a:rPr lang="en-US" sz="3200" b="1" dirty="0" smtClean="0">
                <a:cs typeface="Arial" pitchFamily="34" charset="0"/>
              </a:rPr>
              <a:t>Random Forest </a:t>
            </a:r>
            <a:r>
              <a:rPr lang="en-US" sz="3200" dirty="0" smtClean="0">
                <a:cs typeface="Arial" pitchFamily="34" charset="0"/>
              </a:rPr>
              <a:t>“100%”</a:t>
            </a:r>
          </a:p>
          <a:p>
            <a:r>
              <a:rPr lang="en-US" sz="3200" dirty="0" smtClean="0">
                <a:cs typeface="Arial" pitchFamily="34" charset="0"/>
              </a:rPr>
              <a:t>     Our </a:t>
            </a:r>
            <a:r>
              <a:rPr lang="en-US" sz="3200" b="1" dirty="0" smtClean="0">
                <a:cs typeface="Arial" pitchFamily="34" charset="0"/>
              </a:rPr>
              <a:t>Propose Model</a:t>
            </a:r>
            <a:r>
              <a:rPr lang="en-US" sz="3200" dirty="0" smtClean="0">
                <a:cs typeface="Arial" pitchFamily="34" charset="0"/>
              </a:rPr>
              <a:t> Accuracy “98.75%”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-19050"/>
            <a:ext cx="9144000" cy="76944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</a:rPr>
              <a:t>Accuracy Result</a:t>
            </a:r>
            <a:endParaRPr lang="en-US" sz="4400" dirty="0">
              <a:solidFill>
                <a:schemeClr val="bg1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95400" y="1123950"/>
          <a:ext cx="6629400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57400"/>
                <a:gridCol w="1257300"/>
                <a:gridCol w="1790700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ML Algorithms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Accuracy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Model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Accuracy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Random Forest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Propose Model</a:t>
                      </a: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0.9875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0.9875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/>
                        <a:t>Decision Tree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/>
                        <a:t>0.9875</a:t>
                      </a:r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/>
                        <a:t>Naive </a:t>
                      </a:r>
                      <a:r>
                        <a:rPr lang="en-US" sz="1800" kern="1200" dirty="0" err="1" smtClean="0"/>
                        <a:t>Bayes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/>
                        <a:t>0.925</a:t>
                      </a:r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/>
                        <a:t>KNN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/>
                        <a:t>0.7125</a:t>
                      </a:r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/>
                        <a:t>SVM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/>
                        <a:t>0.65</a:t>
                      </a:r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05000" y="1561338"/>
          <a:ext cx="5256000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03073"/>
                <a:gridCol w="1378963"/>
                <a:gridCol w="1236982"/>
                <a:gridCol w="1236982"/>
              </a:tblGrid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200" dirty="0" smtClean="0"/>
                        <a:t>Algorithms/ Model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200" dirty="0"/>
                        <a:t>Accuracy 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200"/>
                        <a:t>Without Preprocessing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200"/>
                        <a:t>Preprocessing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200"/>
                        <a:t>Feature Extract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200" dirty="0" smtClean="0">
                          <a:latin typeface="Times New Roman"/>
                          <a:ea typeface="Times New Roman"/>
                          <a:cs typeface="Times New Roman"/>
                        </a:rPr>
                        <a:t>Random Forest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200" dirty="0" smtClean="0">
                          <a:latin typeface="Times New Roman"/>
                          <a:ea typeface="Times New Roman"/>
                          <a:cs typeface="Times New Roman"/>
                        </a:rPr>
                        <a:t>100%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200" dirty="0" smtClean="0">
                          <a:latin typeface="Times New Roman"/>
                          <a:ea typeface="Times New Roman"/>
                          <a:cs typeface="Times New Roman"/>
                        </a:rPr>
                        <a:t>Logistic Regression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200" dirty="0" smtClean="0">
                          <a:latin typeface="Times New Roman"/>
                          <a:ea typeface="Times New Roman"/>
                          <a:cs typeface="Times New Roman"/>
                        </a:rPr>
                        <a:t>98.75%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200" dirty="0" smtClean="0">
                          <a:latin typeface="Times New Roman"/>
                          <a:ea typeface="Times New Roman"/>
                          <a:cs typeface="Times New Roman"/>
                        </a:rPr>
                        <a:t>Propose</a:t>
                      </a:r>
                      <a:r>
                        <a:rPr lang="en-US" sz="1200" baseline="0" dirty="0" smtClean="0">
                          <a:latin typeface="Times New Roman"/>
                          <a:ea typeface="Times New Roman"/>
                          <a:cs typeface="Times New Roman"/>
                        </a:rPr>
                        <a:t> Model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200" dirty="0" smtClean="0">
                          <a:latin typeface="Times New Roman"/>
                          <a:ea typeface="Times New Roman"/>
                          <a:cs typeface="Times New Roman"/>
                        </a:rPr>
                        <a:t>98.75%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200" dirty="0"/>
                        <a:t>Decision Tree 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200" dirty="0" smtClean="0">
                          <a:latin typeface="Times New Roman"/>
                          <a:ea typeface="Times New Roman"/>
                          <a:cs typeface="Times New Roman"/>
                        </a:rPr>
                        <a:t>98.75%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200" dirty="0"/>
                        <a:t>Naive </a:t>
                      </a:r>
                      <a:r>
                        <a:rPr lang="en-US" sz="1200" dirty="0" err="1"/>
                        <a:t>Bayes</a:t>
                      </a:r>
                      <a:r>
                        <a:rPr lang="en-US" sz="1200" dirty="0"/>
                        <a:t> 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200" dirty="0" smtClean="0">
                          <a:latin typeface="Times New Roman"/>
                          <a:ea typeface="Times New Roman"/>
                          <a:cs typeface="Times New Roman"/>
                        </a:rPr>
                        <a:t>98.75%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200" dirty="0"/>
                        <a:t>KNN 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200" dirty="0" smtClean="0">
                          <a:latin typeface="Times New Roman"/>
                          <a:ea typeface="Times New Roman"/>
                          <a:cs typeface="Times New Roman"/>
                        </a:rPr>
                        <a:t>97.50%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200" dirty="0"/>
                        <a:t>SVM 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r>
                        <a:rPr lang="en-US" sz="1200" dirty="0" smtClean="0">
                          <a:latin typeface="Times New Roman"/>
                          <a:ea typeface="Times New Roman"/>
                          <a:cs typeface="Times New Roman"/>
                        </a:rPr>
                        <a:t>65%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866390" algn="ctr"/>
                        </a:tabLs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-19050"/>
            <a:ext cx="9144000" cy="76944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</a:rPr>
              <a:t>Accuracy Result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5375" y="3009900"/>
            <a:ext cx="3171825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790575"/>
            <a:ext cx="3724275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33900" y="3028950"/>
            <a:ext cx="37719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90600" y="895350"/>
          <a:ext cx="3200400" cy="20393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/>
                <a:gridCol w="1371600"/>
              </a:tblGrid>
              <a:tr h="2385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Algorithms/Model</a:t>
                      </a:r>
                      <a:endParaRPr lang="en-US" sz="1100" dirty="0"/>
                    </a:p>
                  </a:txBody>
                  <a:tcPr marL="87284" marR="87284" marT="43642" marB="43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Accuracy (%)</a:t>
                      </a:r>
                      <a:endParaRPr lang="en-US" sz="1100" dirty="0"/>
                    </a:p>
                  </a:txBody>
                  <a:tcPr marL="87284" marR="87284" marT="43642" marB="43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5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Random Forest</a:t>
                      </a:r>
                      <a:endParaRPr lang="en-US" sz="1100" dirty="0"/>
                    </a:p>
                  </a:txBody>
                  <a:tcPr marL="87284" marR="87284" marT="43642" marB="436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100</a:t>
                      </a:r>
                      <a:endParaRPr lang="en-US" sz="1100" dirty="0"/>
                    </a:p>
                  </a:txBody>
                  <a:tcPr marL="87284" marR="87284" marT="43642" marB="43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5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latin typeface="Times New Roman"/>
                          <a:ea typeface="Times New Roman"/>
                          <a:cs typeface="Times New Roman"/>
                        </a:rPr>
                        <a:t>Logistic Regression</a:t>
                      </a:r>
                    </a:p>
                  </a:txBody>
                  <a:tcPr marL="87284" marR="87284" marT="43642" marB="436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98.75</a:t>
                      </a:r>
                      <a:endParaRPr lang="en-US" sz="1100" dirty="0"/>
                    </a:p>
                  </a:txBody>
                  <a:tcPr marL="87284" marR="87284" marT="43642" marB="43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5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latin typeface="Times New Roman"/>
                          <a:ea typeface="Times New Roman"/>
                          <a:cs typeface="Times New Roman"/>
                        </a:rPr>
                        <a:t>Propose</a:t>
                      </a:r>
                      <a:r>
                        <a:rPr lang="en-US" sz="1100" baseline="0" dirty="0" smtClean="0">
                          <a:latin typeface="Times New Roman"/>
                          <a:ea typeface="Times New Roman"/>
                          <a:cs typeface="Times New Roman"/>
                        </a:rPr>
                        <a:t> Model</a:t>
                      </a:r>
                      <a:endParaRPr lang="en-US" sz="11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7284" marR="87284" marT="43642" marB="436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98.75</a:t>
                      </a:r>
                    </a:p>
                  </a:txBody>
                  <a:tcPr marL="87284" marR="87284" marT="43642" marB="43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50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100" kern="1200" dirty="0" smtClean="0"/>
                        <a:t>Decision Tree </a:t>
                      </a:r>
                      <a:endParaRPr lang="en-US" sz="1100" dirty="0"/>
                    </a:p>
                  </a:txBody>
                  <a:tcPr marL="87284" marR="87284" marT="43642" marB="436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100" kern="1200" dirty="0" smtClean="0"/>
                        <a:t>98.75</a:t>
                      </a:r>
                      <a:endParaRPr lang="en-US" sz="1100" dirty="0"/>
                    </a:p>
                  </a:txBody>
                  <a:tcPr marL="87284" marR="87284" marT="43642" marB="43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5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kern="1200" dirty="0" smtClean="0"/>
                        <a:t>Naive </a:t>
                      </a:r>
                      <a:r>
                        <a:rPr kumimoji="0" lang="en-US" sz="1100" kern="1200" dirty="0" err="1" smtClean="0"/>
                        <a:t>Bayes</a:t>
                      </a:r>
                      <a:r>
                        <a:rPr kumimoji="0" lang="en-US" sz="1100" kern="1200" dirty="0" smtClean="0"/>
                        <a:t> </a:t>
                      </a:r>
                      <a:endParaRPr lang="en-US" sz="1100" dirty="0" smtClean="0"/>
                    </a:p>
                  </a:txBody>
                  <a:tcPr marL="87284" marR="87284" marT="43642" marB="436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98.75</a:t>
                      </a:r>
                    </a:p>
                  </a:txBody>
                  <a:tcPr marL="87284" marR="87284" marT="43642" marB="43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50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100" kern="1200" dirty="0" smtClean="0"/>
                        <a:t>KNN</a:t>
                      </a:r>
                      <a:endParaRPr lang="en-US" sz="1100" dirty="0"/>
                    </a:p>
                  </a:txBody>
                  <a:tcPr marL="87284" marR="87284" marT="43642" marB="436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97.50</a:t>
                      </a:r>
                      <a:endParaRPr lang="en-US" sz="1100" dirty="0"/>
                    </a:p>
                  </a:txBody>
                  <a:tcPr marL="87284" marR="87284" marT="43642" marB="43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50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100" kern="1200" dirty="0" smtClean="0"/>
                        <a:t>SVM</a:t>
                      </a:r>
                      <a:endParaRPr lang="en-US" sz="1100" dirty="0"/>
                    </a:p>
                  </a:txBody>
                  <a:tcPr marL="87284" marR="87284" marT="43642" marB="436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65</a:t>
                      </a:r>
                      <a:endParaRPr lang="en-US" sz="1100" dirty="0"/>
                    </a:p>
                  </a:txBody>
                  <a:tcPr marL="87284" marR="87284" marT="43642" marB="436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0" y="-19050"/>
            <a:ext cx="9144000" cy="76944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</a:rPr>
              <a:t>Comparison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304800" y="334923"/>
            <a:ext cx="8610600" cy="4370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References: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[1] 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Pinar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Yildirim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“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Chronic Kidney Disease Prediction on Imbalanced Data by Multilayer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Perceptron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”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2017 IEEE 41st Annual Computer Software and Applications Conference.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[2] A.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Charleonnan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T.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Fufaung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T.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Niyomwong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W.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Chokchueypattanakit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S.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Suwannawach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N.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Ninchawee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"Predictive Analytics for Chronic Kidney Disease Using Machine Learning Techniques," MITiCON-2016.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[3] Q. Zhang and D.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Rothenbacher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"Prevalence of chronic kidney disease in population-based studies: systematic review," BMC Public Health, 2008.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[4] 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A. R, G.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Sasi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R.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Sankar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and O. .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Deepa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“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Decision Support system for diagnosis and prediction of Chronic Renal Failure using Random Subspace Classification,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”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2016.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sz="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[5] 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J. Xiao et al, "Comparison and development of machine learning tools in the prediction of chronic kidney disease progression," Journal of Translational Medicine, 2019.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sz="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[6]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Bhavya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Gudeti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Shashvi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Mishra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Shaveta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Malik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T. F. Fernandez, A. K.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Tyagi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Shabnam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Kumari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“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Novel Approach to Predict Chronic Kidney Disease using Machine Learning Algorithms,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”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ICECA-2020.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sz="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[7]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GunarathneW.H.S.D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Perera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K.D.M,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Kahandawaarachchi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K.A.D.C.P, 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“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Performance Evaluation on Machine Learning Classification Techniques for Disease Classification and Forecasting through Data Analytics for Chronic Kidney Disease (CKD)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”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2017 IEEE 17thInternational Conference on Bioinformatics and Bioengineering.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sz="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[8]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S.Ramya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Dr.N.Radha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"Diagnosis of Chronic Kidney Disease Using Machine Learning Algorithms," Proc. International Journal of Innovative Research in Computer and Communication Engineering, January 2016.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sz="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[9] 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S. A.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Shinde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and P. R.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Rajeswari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“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Intelligent health risk prediction systems using machine learning: a review,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”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IJET, 2018.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sz="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[10] P.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Yildirim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“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Chronic Kidney Disease Prediction on Imbalanced Data by Multilayer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Perceptron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 Chronic Kidney Disease Prediction,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”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in Proceedings - International Computer Software and Applications Conference, 2017.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04800" y="209550"/>
            <a:ext cx="8534400" cy="3247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References: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800" dirty="0" smtClean="0"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[11]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Rahul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Gupta ,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Nidhi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Koli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Niharika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Mahor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N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Tejashri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“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Performance Analysis of Machine Learning Classifier for Predicting Chronic Kidney Disease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”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INCET 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–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2020.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500" dirty="0" smtClean="0"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[12]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Shinthi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Tasnim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Himi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Natasha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Tanzila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Monalisa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Md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Whaiduzzaman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Alistair Barros, Mohammad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Shorif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Uddin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“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MedAi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 A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Smartwatch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-Based Application Framework for the Prediction of Common Diseases Using Machine Learning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”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IEEEXplore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–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2023.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500" dirty="0" smtClean="0">
              <a:latin typeface="Arial" pitchFamily="34" charset="0"/>
              <a:cs typeface="Arial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[13]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Dibaba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Adeba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Debal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Tilahun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Melak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Sitote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“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Chronic kidney disease prediction using machine learning techniques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”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Journal of Big Data 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–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2022.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500" dirty="0" smtClean="0"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[14]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Sourish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Ghosh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Anasuya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Dasgupta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Aleena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Swetapadma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“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Study on Support Vector Machine based Linear and Non-Linear Pattern Classification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”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ICISS 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–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2019.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500" dirty="0" smtClean="0"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[15] </a:t>
            </a:r>
            <a:r>
              <a:rPr lang="en-US" sz="1100" dirty="0" err="1" smtClean="0"/>
              <a:t>Kashvi</a:t>
            </a:r>
            <a:r>
              <a:rPr lang="en-US" sz="1100" dirty="0" smtClean="0"/>
              <a:t> </a:t>
            </a:r>
            <a:r>
              <a:rPr lang="en-US" sz="1100" dirty="0" err="1" smtClean="0"/>
              <a:t>Taunk</a:t>
            </a:r>
            <a:r>
              <a:rPr lang="en-US" sz="1100" dirty="0" smtClean="0"/>
              <a:t>, </a:t>
            </a:r>
            <a:r>
              <a:rPr lang="en-US" sz="1100" dirty="0" err="1" smtClean="0"/>
              <a:t>Sanjukta</a:t>
            </a:r>
            <a:r>
              <a:rPr lang="en-US" sz="1100" dirty="0" smtClean="0"/>
              <a:t> De, </a:t>
            </a:r>
            <a:r>
              <a:rPr lang="en-US" sz="1100" dirty="0" err="1" smtClean="0"/>
              <a:t>Srishti</a:t>
            </a:r>
            <a:r>
              <a:rPr lang="en-US" sz="1100" dirty="0" smtClean="0"/>
              <a:t> </a:t>
            </a:r>
            <a:r>
              <a:rPr lang="en-US" sz="1100" dirty="0" err="1" smtClean="0"/>
              <a:t>Verma</a:t>
            </a:r>
            <a:r>
              <a:rPr lang="en-US" sz="1100" dirty="0" smtClean="0"/>
              <a:t>, </a:t>
            </a:r>
            <a:r>
              <a:rPr lang="en-US" sz="1100" dirty="0" err="1" smtClean="0"/>
              <a:t>AleenaSwetapadma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“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Brief Review of Nearest Neighbor Algorithm for Learning and Classification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”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ICICCS 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–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2019.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500" dirty="0" smtClean="0"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[16]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Bahzad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Taha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Jijo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Adnan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Mohsin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Abdulazeez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“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Classification Based on Decision Tree Algorithm for Machine Learning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”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JASTT 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–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2021.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500" dirty="0" smtClean="0"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[17] </a:t>
            </a:r>
            <a:r>
              <a:rPr lang="en-US" sz="1100" dirty="0" err="1" smtClean="0"/>
              <a:t>Sujan</a:t>
            </a:r>
            <a:r>
              <a:rPr lang="en-US" sz="1100" dirty="0" smtClean="0"/>
              <a:t> </a:t>
            </a:r>
            <a:r>
              <a:rPr lang="en-US" sz="1100" dirty="0" err="1" smtClean="0"/>
              <a:t>Banik</a:t>
            </a:r>
            <a:r>
              <a:rPr lang="en-US" sz="1100" dirty="0" smtClean="0"/>
              <a:t>, </a:t>
            </a:r>
            <a:r>
              <a:rPr lang="en-US" sz="1100" dirty="0" err="1" smtClean="0"/>
              <a:t>Antara</a:t>
            </a:r>
            <a:r>
              <a:rPr lang="en-US" sz="1100" dirty="0" smtClean="0"/>
              <a:t> </a:t>
            </a:r>
            <a:r>
              <a:rPr lang="en-US" sz="1100" dirty="0" err="1" smtClean="0"/>
              <a:t>Ghosh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“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Prevalence of chronic kidney disease in Bangladesh: a systematic review and </a:t>
            </a:r>
            <a:r>
              <a:rPr lang="en-US" sz="11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meta‑analysis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”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International Urology and Nephrology </a:t>
            </a:r>
            <a:r>
              <a:rPr lang="en-US" sz="1100" dirty="0" smtClean="0">
                <a:ea typeface="Times New Roman" pitchFamily="18" charset="0"/>
                <a:cs typeface="Times New Roman" pitchFamily="18" charset="0"/>
              </a:rPr>
              <a:t>–</a:t>
            </a:r>
            <a:r>
              <a:rPr lang="en-US" sz="11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2020.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219200" y="952500"/>
            <a:ext cx="6705600" cy="2838450"/>
          </a:xfrm>
        </p:spPr>
        <p:txBody>
          <a:bodyPr>
            <a:noAutofit/>
          </a:bodyPr>
          <a:lstStyle/>
          <a:p>
            <a:r>
              <a:rPr lang="en-US" sz="8800" dirty="0" smtClean="0">
                <a:latin typeface="Times New Roman" pitchFamily="18" charset="0"/>
                <a:cs typeface="Times New Roman" pitchFamily="18" charset="0"/>
              </a:rPr>
              <a:t>Question</a:t>
            </a:r>
            <a:br>
              <a:rPr lang="en-US" sz="8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8800" dirty="0" smtClean="0">
                <a:latin typeface="Times New Roman" pitchFamily="18" charset="0"/>
                <a:cs typeface="Times New Roman" pitchFamily="18" charset="0"/>
              </a:rPr>
              <a:t>??</a:t>
            </a:r>
            <a:endParaRPr lang="en-US" sz="8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43100"/>
            <a:ext cx="8229600" cy="857250"/>
          </a:xfrm>
        </p:spPr>
        <p:txBody>
          <a:bodyPr>
            <a:noAutofit/>
          </a:bodyPr>
          <a:lstStyle/>
          <a:p>
            <a:r>
              <a:rPr lang="en-US" sz="8800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8800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1523</TotalTime>
  <Words>2596</Words>
  <Application>Microsoft Office PowerPoint</Application>
  <PresentationFormat>On-screen Show (16:9)</PresentationFormat>
  <Paragraphs>1172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Question ??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ASHIK SARKAR LEON</dc:creator>
  <cp:lastModifiedBy>ASHIK SARKAR LEON</cp:lastModifiedBy>
  <cp:revision>179</cp:revision>
  <dcterms:created xsi:type="dcterms:W3CDTF">2006-08-16T00:00:00Z</dcterms:created>
  <dcterms:modified xsi:type="dcterms:W3CDTF">2024-03-02T06:11:30Z</dcterms:modified>
</cp:coreProperties>
</file>